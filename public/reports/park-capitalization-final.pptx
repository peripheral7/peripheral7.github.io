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906595e-f154-23c3-7017-e170105e9ab0}">
          <p14:sldIdLst>
            <p14:sldId id="256"/>
            <p14:sldId id="257"/>
          </p14:sldIdLst>
        </p14:section>
        <p14:section name="자료와 변수" id="{f87a2fc0-358b-e9c6-f48f-7bf79ea3c920}">
          <p14:sldIdLst>
            <p14:sldId id="258"/>
            <p14:sldId id="259"/>
            <p14:sldId id="260"/>
            <p14:sldId id="261"/>
          </p14:sldIdLst>
        </p14:section>
        <p14:section name="결과" id="{00dec121-e4ae-385d-d83b-39731f521d63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맺음" id="{580ec8df-81a9-22ef-b612-834148c135a3}">
          <p14:sldIdLst>
            <p14:sldId id="268"/>
            <p14:sldId id="269"/>
          </p14:sldIdLst>
        </p14:section>
        <p14:section name="부록" id="{f1e2bf6a-b9c8-ed04-29d5-90515c139b84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 요약: 대형공원은 다섯 구역 모두에서 집값에 반영된다.</a:t>
            </a:r>
            <a:endParaRPr lang="en-US" dirty="0"/>
          </a:p>
          <a:p>
            <a:r>
              <a:rPr lang="en-US" dirty="0"/>
              <a:t>그 효과가 상권을 거쳐 오는지는 공원의 배치가 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문제: 공원 효과의 크기는 많이 봤지만, 상권을 거쳐 오는 경로는 안 봤다</a:t>
            </a:r>
            <a:endParaRPr lang="en-US" dirty="0"/>
          </a:p>
          <a:p>
            <a:r>
              <a:rPr lang="en-US" dirty="0"/>
              <a:t>Q1~Q3는 짚기만</a:t>
            </a:r>
            <a:endParaRPr lang="en-US" dirty="0"/>
          </a:p>
          <a:p>
            <a:r>
              <a:rPr lang="en-US" dirty="0"/>
              <a:t>기여 네 가지: 지구 안 대조, 경로, 측정, 도시구조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구역: 동탄2 남·북 대조가 핵심, 동탄1 · 광교 · 일월은 비교</a:t>
            </a:r>
            <a:endParaRPr lang="en-US" dirty="0"/>
          </a:p>
          <a:p>
            <a:r>
              <a:rPr lang="en-US" dirty="0"/>
              <a:t>분석 단위는 단지, 모든 구역 대표공원 2km 안</a:t>
            </a:r>
            <a:endParaRPr lang="en-US" dirty="0"/>
          </a:p>
          <a:p>
            <a:r>
              <a:rPr lang="en-US" dirty="0"/>
              <a:t>진한 초록이 대표공원, 네모 점이 진출입로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대표공원 = 생활권의 중심 대형공원, 지명으로 지정</a:t>
            </a:r>
            <a:endParaRPr lang="en-US" dirty="0"/>
          </a:p>
          <a:p>
            <a:r>
              <a:rPr lang="en-US" dirty="0"/>
              <a:t>가장 가까운 공원이 아닌 이유: 단지마다 다른 소공원을 가리켜서</a:t>
            </a:r>
            <a:endParaRPr lang="en-US" dirty="0"/>
          </a:p>
          <a:p>
            <a:r>
              <a:rPr lang="en-US" dirty="0"/>
              <a:t>경계가 아니라 진출입로 — 실제로 들어가는 곳, 세 공원은 현장에서 확인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상권 = 3km 안 다빈도 생활업종을 가까울수록 크게 센 합</a:t>
            </a:r>
            <a:endParaRPr lang="en-US" dirty="0"/>
          </a:p>
          <a:p>
            <a:r>
              <a:rPr lang="en-US" dirty="0"/>
              <a:t>넣은 것: 음식 · 편의점 · 식료품 · 약국 · 의원 · 미용 · 세탁</a:t>
            </a:r>
            <a:endParaRPr lang="en-US" dirty="0"/>
          </a:p>
          <a:p>
            <a:r>
              <a:rPr lang="en-US" dirty="0"/>
              <a:t>뺀 것: 주점, 의류 · 가전, 학원, 부동산, 사업서비스</a:t>
            </a:r>
            <a:endParaRPr lang="en-US" dirty="0"/>
          </a:p>
          <a:p>
            <a:r>
              <a:rPr lang="en-US" dirty="0"/>
              <a:t>구역 점포 중 31~45%만 다빈도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지하철: 남부만 2km 안에 역이 없어 뺐다 — 역 변수 없이도 남부 모형 설명력 0.9</a:t>
            </a:r>
            <a:endParaRPr lang="en-US" dirty="0"/>
          </a:p>
          <a:p>
            <a:r>
              <a:rPr lang="en-US" dirty="0"/>
              <a:t>통제변수는 헤도닉 표준</a:t>
            </a:r>
            <a:endParaRPr lang="en-US" dirty="0"/>
          </a:p>
          <a:p>
            <a:r>
              <a:rPr lang="en-US" dirty="0"/>
              <a:t>가격: 시세에서 20% 넘게 벗어난 특수 거래만 빼고, 층 · 연도를 맞춰 단지 평균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식 하나: 가격을 공원 거리 · 상권 · 통제변수로</a:t>
            </a:r>
            <a:endParaRPr lang="en-US" dirty="0"/>
          </a:p>
          <a:p>
            <a:r>
              <a:rPr lang="en-US" dirty="0"/>
              <a:t>γ가 핵심 — 탄력성</a:t>
            </a:r>
            <a:endParaRPr lang="en-US" dirty="0"/>
          </a:p>
          <a:p>
            <a:r>
              <a:rPr lang="en-US" dirty="0"/>
              <a:t>1단계 자본화 → 2단계 경로 → 3단계 믿을 만한가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줄만 보면 된다: 다섯 구역 모두 음(−), 유의</a:t>
            </a:r>
            <a:endParaRPr lang="en-US" dirty="0"/>
          </a:p>
          <a:p>
            <a:r>
              <a:rPr lang="en-US" dirty="0"/>
              <a:t>통제변수는 예상 방향 — 오래될수록 싸고, 역이 가까울수록 비싸다</a:t>
            </a:r>
            <a:endParaRPr lang="en-US" dirty="0"/>
          </a:p>
          <a:p>
            <a:r>
              <a:rPr lang="en-US" dirty="0"/>
              <a:t>수정 R² 0.77~0.92: 단지 간 가격 차이를 대부분 설명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문장: 다른 조건이 같을 때, 공원까지 거리가 절반인 단지는 남부에서 8.1% 비싸다</a:t>
            </a:r>
            <a:endParaRPr lang="en-US" dirty="0"/>
          </a:p>
          <a:p>
            <a:r>
              <a:rPr lang="en-US" dirty="0"/>
              <a:t>같은 %라도 가까울수록 100m 값이 크다 — 2km에서는 100m당 521만, 400m에서는 2,603만</a:t>
            </a:r>
            <a:endParaRPr lang="en-US" dirty="0"/>
          </a:p>
          <a:p>
            <a:r>
              <a:rPr lang="en-US" dirty="0"/>
              <a:t>'이사'가 아니라 '두 단지 비교'로 말하기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읽는 순서: a(공원 가까이에 상권이 큰가) → b(그 상권이 가격을 올리는가) → 둘 다 되면 상권을 거친 몫 a·b</a:t>
            </a:r>
            <a:endParaRPr lang="en-US" dirty="0"/>
          </a:p>
          <a:p>
            <a:r>
              <a:rPr lang="en-US" dirty="0"/>
              <a:t>동탄1 37% · 일월 40%가 상권을 거쳐 온다</a:t>
            </a:r>
            <a:endParaRPr lang="en-US" dirty="0"/>
          </a:p>
          <a:p>
            <a:r>
              <a:rPr lang="en-US" dirty="0"/>
              <a:t>남부는 b에서, 북부는 a에서, 광교는 둘 다에서 끊긴다</a:t>
            </a:r>
            <a:endParaRPr lang="en-US" dirty="0"/>
          </a:p>
          <a:p>
            <a:r>
              <a:rPr lang="en-US" dirty="0"/>
              <a:t>간접효과 구간이 0을 벗어나야 매개 — 부트스트랩 5,000회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매개 = 나른다, 조절 = 키운다. 다른 질문이라 한쪽만 성립할 수 있다</a:t>
            </a:r>
            <a:endParaRPr lang="en-US" dirty="0"/>
          </a:p>
          <a:p>
            <a:r>
              <a:rPr lang="en-US" dirty="0"/>
              <a:t>광교: 매개는 없지만 상권 밀집지에서만 공원 효과 — 공원과 상권은 보완재</a:t>
            </a:r>
            <a:endParaRPr lang="en-US" dirty="0"/>
          </a:p>
          <a:p>
            <a:r>
              <a:rPr lang="en-US" dirty="0"/>
              <a:t>동탄1은 둘 다, 일월은 매개만, 남 · 북부는 둘 다 없음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일곱 가지를 바꿔 봤다 — 공원 효과의 부호와 유의성은 거의 유지</a:t>
            </a:r>
            <a:endParaRPr lang="en-US" dirty="0"/>
          </a:p>
          <a:p>
            <a:r>
              <a:rPr lang="en-US" dirty="0"/>
              <a:t>일월만 공간 의존으로 약해진다</a:t>
            </a:r>
            <a:endParaRPr lang="en-US" dirty="0"/>
          </a:p>
          <a:p>
            <a:r>
              <a:rPr lang="en-US" dirty="0"/>
              <a:t>정의를 바꾼 이전 값은 여기서만 말한다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문장으로 닫기</a:t>
            </a:r>
            <a:endParaRPr lang="en-US" dirty="0"/>
          </a:p>
          <a:p>
            <a:r>
              <a:rPr lang="en-US" dirty="0"/>
              <a:t>1 어디서나 자본화 2 상권 경로는 배치가 정한다 3 공원과 상권은 보완</a:t>
            </a:r>
            <a:endParaRPr lang="en-US" dirty="0"/>
          </a:p>
          <a:p>
            <a:r>
              <a:rPr lang="en-US" dirty="0"/>
              <a:t>시사점: 크기보다 배치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인과 아님, 표본 작음, 상권은 등록 기준, 직선거리, 일월 공간 의존</a:t>
            </a:r>
            <a:endParaRPr lang="en-US" dirty="0"/>
          </a:p>
          <a:p>
            <a:r>
              <a:rPr lang="en-US" dirty="0"/>
              <a:t>마무리: 공원은 어디서나 값을 올리지만, 그 방식은 배치가 정한다.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나오면: 직거래와 시세에서 20% 넘게 벗어난 특수 거래만 빼고, 층 · 연도를 단지 안에서 맞췄다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총효과로 보면 동탄1 · 일월에서 공원 가치가 더 크다 — 상권을 거친 몫이 더해지기 때문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F7D63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914400" y="1874520"/>
            <a:ext cx="10332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914400" y="384048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Shape 0"/>
          <p:cNvSpPr/>
          <p:nvPr/>
        </p:nvSpPr>
        <p:spPr>
          <a:xfrm>
            <a:off x="548640" y="1078992"/>
            <a:ext cx="822960" cy="0"/>
          </a:xfrm>
          <a:prstGeom prst="line">
            <a:avLst/>
          </a:prstGeom>
          <a:noFill/>
          <a:ln w="25400">
            <a:solidFill>
              <a:srgbClr val="5F7D6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Independent Learning and Research 26-2 · 최종발표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최종발표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914400" y="18745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대형공원은 아파트 가격에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자본화되는가</a:t>
            </a:r>
            <a:endParaRPr lang="en-US" sz="3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914400" y="38404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공원의 배치와 생활상권 — 동탄1 · 동탄2 · 광교 · 일월저수지 일대</a:t>
            </a:r>
            <a:endParaRPr lang="en-US" sz="18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문채건  ·  Independent Learning and Research 26-2  ·  2026년 10월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연구의 의의와 질문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297180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36776"/>
            <a:ext cx="118872" cy="11887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왜 이 연구인가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대형공원은 신도시 계획에서 가장 큰 공공 공간 투자다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선행연구는 대부분 한 도시에서 공원 효과의 '크기'만 추정했다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공원이 주변 상권을 키우고, 그 상권이 집값을 올리는 '경로'는 검증되지 않았다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91072" y="13258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F7D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5392" y="1636776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84848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연구 질문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65392" y="2011680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Q1  같은 지구 안에서, 대형공원이 생활권 중심에 있는 곳(동탄2 남부)과 그렇지 않은 곳(북부)의 공원 효과는 어떻게 다른가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Q2  공원 효과 가운데 생활상권을 거쳐 가는 몫은 얼마인가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Q3  기성시가지(일월저수지 일대)에서도 같은가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2636444" cy="160020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4773168"/>
            <a:ext cx="19049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같은 지구 안의 대조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5230368"/>
            <a:ext cx="22341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시행 주체 · 입주 시기 · 행정구역이 같은 동탄2 남 · 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67964" y="4572000"/>
            <a:ext cx="2636444" cy="160020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69132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934892" y="4773168"/>
            <a:ext cx="19049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효과의 경로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69132" y="5230368"/>
            <a:ext cx="22341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공원 → 상권 → 가격의 매개와, 상권 수준에 따른 조절을 함께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87288" y="4572000"/>
            <a:ext cx="2636444" cy="160020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88456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754216" y="4773168"/>
            <a:ext cx="19049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정밀한 측정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88456" y="5230368"/>
            <a:ext cx="22341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지정 대표공원의 진출입로 거리 · 다빈도 생활업종 상권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006611" y="4572000"/>
            <a:ext cx="2636444" cy="160020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07779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573539" y="4773168"/>
            <a:ext cx="19049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도시구조로 설명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07779" y="5230368"/>
            <a:ext cx="22341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공원의 배치, 상권의 형성 주체, 신도시 대 기성시가지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대상지와 자료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대표공원 경계 2km 안 285개 단지 · 실거래 5,892건 (2024 · 2025년 상반기) — 구역마다 따로 추정</a:t>
            </a:r>
            <a:endParaRPr lang="en-US" sz="1800" dirty="0"/>
          </a:p>
        </p:txBody>
      </p:sp>
      <p:pic>
        <p:nvPicPr>
          <p:cNvPr id="4" name="Image 0" descr="C:\Users\moonc\desktop\KICA 논문작성\논문\deck_img\core_dongtan-south.png">    </p:cNvPr>
          <p:cNvPicPr>
            <a:picLocks noChangeAspect="1"/>
          </p:cNvPicPr>
          <p:nvPr/>
        </p:nvPicPr>
        <p:blipFill>
          <a:blip r:embed="rId1"/>
          <a:srcRect l="0" r="0" t="19196" b="19196"/>
          <a:stretch/>
        </p:blipFill>
        <p:spPr>
          <a:xfrm>
            <a:off x="548640" y="1737360"/>
            <a:ext cx="358841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3588410" cy="1828800"/>
          </a:xfrm>
          <a:prstGeom prst="rect">
            <a:avLst/>
          </a:prstGeom>
          <a:ln w="9525">
            <a:solidFill>
              <a:srgbClr val="D9D5C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621024"/>
            <a:ext cx="3588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동탄2 남부  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동탄호수공원 44.5ha · 28단지 · 604건</a:t>
            </a:r>
            <a:endParaRPr lang="en-US" sz="1150" dirty="0"/>
          </a:p>
        </p:txBody>
      </p:sp>
      <p:pic>
        <p:nvPicPr>
          <p:cNvPr id="7" name="Image 1" descr="C:\Users\moonc\desktop\KICA 논문작성\논문\deck_img\core_dongtan-north.png">    </p:cNvPr>
          <p:cNvPicPr>
            <a:picLocks noChangeAspect="1"/>
          </p:cNvPicPr>
          <p:nvPr/>
        </p:nvPicPr>
        <p:blipFill>
          <a:blip r:embed="rId2"/>
          <a:srcRect l="0" r="0" t="19539" b="19539"/>
          <a:stretch/>
        </p:blipFill>
        <p:spPr>
          <a:xfrm>
            <a:off x="4301642" y="1737360"/>
            <a:ext cx="3588410" cy="1828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01642" y="1737360"/>
            <a:ext cx="3588410" cy="1828800"/>
          </a:xfrm>
          <a:prstGeom prst="rect">
            <a:avLst/>
          </a:prstGeom>
          <a:ln w="9525">
            <a:solidFill>
              <a:srgbClr val="D9D5C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301642" y="3621024"/>
            <a:ext cx="3588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동탄2 북부  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동탄여울공원 + 청계중앙공원 · 47단지 · 990건</a:t>
            </a:r>
            <a:endParaRPr lang="en-US" sz="1150" dirty="0"/>
          </a:p>
        </p:txBody>
      </p:sp>
      <p:pic>
        <p:nvPicPr>
          <p:cNvPr id="10" name="Image 2" descr="C:\Users\moonc\desktop\KICA 논문작성\논문\deck_img\core_dongtan1.png">    </p:cNvPr>
          <p:cNvPicPr>
            <a:picLocks noChangeAspect="1"/>
          </p:cNvPicPr>
          <p:nvPr/>
        </p:nvPicPr>
        <p:blipFill>
          <a:blip r:embed="rId3"/>
          <a:srcRect l="0" r="0" t="24244" b="24244"/>
          <a:stretch/>
        </p:blipFill>
        <p:spPr>
          <a:xfrm>
            <a:off x="8054645" y="1737360"/>
            <a:ext cx="3588410" cy="18288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054645" y="1737360"/>
            <a:ext cx="3588410" cy="1828800"/>
          </a:xfrm>
          <a:prstGeom prst="rect">
            <a:avLst/>
          </a:prstGeom>
          <a:ln w="9525">
            <a:solidFill>
              <a:srgbClr val="D9D5CA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054645" y="3621024"/>
            <a:ext cx="3588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동탄1  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동탄센트럴파크 36.8ha · 66단지 · 1,168건</a:t>
            </a:r>
            <a:endParaRPr lang="en-US" sz="1150" dirty="0"/>
          </a:p>
        </p:txBody>
      </p:sp>
      <p:pic>
        <p:nvPicPr>
          <p:cNvPr id="13" name="Image 3" descr="C:\Users\moonc\desktop\KICA 논문작성\논문\deck_img\core_gwanggyo.png">    </p:cNvPr>
          <p:cNvPicPr>
            <a:picLocks noChangeAspect="1"/>
          </p:cNvPicPr>
          <p:nvPr/>
        </p:nvPicPr>
        <p:blipFill>
          <a:blip r:embed="rId4"/>
          <a:srcRect l="0" r="0" t="26042" b="26042"/>
          <a:stretch/>
        </p:blipFill>
        <p:spPr>
          <a:xfrm>
            <a:off x="2425141" y="4078224"/>
            <a:ext cx="3588410" cy="18288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425141" y="4078224"/>
            <a:ext cx="3588410" cy="1828800"/>
          </a:xfrm>
          <a:prstGeom prst="rect">
            <a:avLst/>
          </a:prstGeom>
          <a:ln w="9525">
            <a:solidFill>
              <a:srgbClr val="D9D5CA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2425141" y="5961888"/>
            <a:ext cx="3588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광교  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광교호수공원 132.8ha · 71단지 · 2,128건</a:t>
            </a:r>
            <a:endParaRPr lang="en-US" sz="1150" dirty="0"/>
          </a:p>
        </p:txBody>
      </p:sp>
      <p:pic>
        <p:nvPicPr>
          <p:cNvPr id="16" name="Image 4" descr="C:\Users\moonc\desktop\KICA 논문작성\논문\deck_img\core_ilwol.png">    </p:cNvPr>
          <p:cNvPicPr>
            <a:picLocks noChangeAspect="1"/>
          </p:cNvPicPr>
          <p:nvPr/>
        </p:nvPicPr>
        <p:blipFill>
          <a:blip r:embed="rId5"/>
          <a:srcRect l="0" r="0" t="24569" b="24569"/>
          <a:stretch/>
        </p:blipFill>
        <p:spPr>
          <a:xfrm>
            <a:off x="6178144" y="4078224"/>
            <a:ext cx="3588410" cy="18288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178144" y="4078224"/>
            <a:ext cx="3588410" cy="1828800"/>
          </a:xfrm>
          <a:prstGeom prst="rect">
            <a:avLst/>
          </a:prstGeom>
          <a:ln w="9525">
            <a:solidFill>
              <a:srgbClr val="D9D5CA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6178144" y="5961888"/>
            <a:ext cx="3588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일월저수지 일대  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일월공원 28.1ha · 73단지 · 1,002건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변수 선정 ① 대표공원과 진출입로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15258" cy="370332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618488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대표공원이란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30580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생활권에서 이용의 중심이 되는 대형공원 하나(북부는 둘)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연구자가 지명으로 지정하고, 도시계획시설 결정경계를 OpenStreetMap 지명 폴리곤과 대조해 확정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남부 동탄호수공원 · 북부 동탄여울공원 + 청계중앙공원 · 동탄1 동탄센트럴파크 · 광교 광교호수공원 · 일월 일월공원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8218" y="1371600"/>
            <a:ext cx="3515258" cy="370332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66818" y="15727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978298" y="1618488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공원 효용이 도시에서 갖는 의미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66818" y="2194560"/>
            <a:ext cx="30580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신도시는 생활권마다 중심 공원을 두고, 작은 공원은 단지 사이에 흩어 놓는다(근린주구)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'가장 가까운 공원'은 단지마다 다른 소공원을 가리킨다 → 주민이 산책 · 운동 · 행사로 찾아가는 대표공원까지의 거리를 잰다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작은 공원은 '중규모공원 거리'로 따로 통제한다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7797" y="1371600"/>
            <a:ext cx="351525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F7D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5727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767877" y="1618488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진출입로까지의 거리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56397" y="2194560"/>
            <a:ext cx="30580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공원 이용은 실제로 들어가는 지점까지의 거리가 좌우한다(Giles-Corti 외, 2005)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경계까지 재면 들어갈 수 없는 가장자리가 단지 바로 옆으로 잡힌다(선형 · 대형 공원)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동탄센트럴파크 · 동탄여울공원 · 청계중앙공원은 웹앱으로 현장 확인한 진출입로를 쓴다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11094415" cy="685800"/>
          </a:xfrm>
          <a:prstGeom prst="rect">
            <a:avLst/>
          </a:prstGeom>
          <a:solidFill>
            <a:srgbClr val="DCE5D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3035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공원 변수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D = 단지 중심에서 지정 대표공원 진출입로까지의 직선거리(최솟값), 회귀식에는 ln 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변수 선정 ② 생활상권 — 다빈도 생활업종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89888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1307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정의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M = ln Σ 1 / max(dⱼ, 50m)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     j: 단지에서 3km 안의 다빈도 생활업종 점포 · dⱼ: 그 점포까지의 직선거리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다빈도 생활업종: 주민이 대략 주 1회 이상, 걸어서 또는 가까이 찾아가는 업종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거리조락: 가까운 점포일수록 크게 센다 — 반경 경계에서 값이 끊기지 않는다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3km · 거리의 역수(β = 1): 반경과 감쇠를 후보 비교로 정했다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로그: 가중합이라 효과가 비율로 붙고, 값의 범위가 넓다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자료: 소상공인시장진흥공단 상가(상권)정보, 2025년 6월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29400" y="1389888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48856" y="1307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업종 기준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737360"/>
          <a:ext cx="5013655" cy="914400"/>
        </p:xfrm>
        <a:graphic>
          <a:graphicData uri="http://schemas.openxmlformats.org/drawingml/2006/table">
            <a:tbl>
              <a:tblPr/>
              <a:tblGrid>
                <a:gridCol w="2506828"/>
                <a:gridCol w="2506828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넣은 업종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뺀 업종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음식 — 주점 · 구내식당 제외 (카페 · 한식 · 분식 · 빵 · 치킨 · 중식 등)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주점 · 구내식당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편의점 · 슈퍼마켓 · 식료품(정육 · 반찬 · 과일 등) · 약국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의류 · 가전 · 가구 · 화장품 · 꽃집 · 자동차 관련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의원 (내과 · 소아과 · 치과 · 한의원 등)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요양 · 종합병원, 피부관리 · 네일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미용실 · 세탁소 · 셀프 빨래방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학원 · 체육 · 오락, 부동산 중개, 사업서비스(컨설팅 · 광고), 숙박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629400" y="4617720"/>
            <a:ext cx="5013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다빈도 업종 비율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남부 43% · 북부 31% · 동탄1 37% · 광교 36% · 일월 45%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학원은 학령기 가구만의 시설이라 넣지 않고, 사업서비스는 사무실 등록지가 몰린 곳에서 상권을 부풀려 뺐다.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257800"/>
            <a:ext cx="5760720" cy="685800"/>
          </a:xfrm>
          <a:prstGeom prst="rect">
            <a:avLst/>
          </a:prstGeom>
          <a:solidFill>
            <a:srgbClr val="DCE5D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52578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왜 다빈도인가 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연구 질문이 '주민이 쓰는 생활상권이 공원 효과를 나르는가'이기 때문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변수 선정 ③ 지하철 · 통제변수 · 가격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7266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874520"/>
                <a:gridCol w="2514600"/>
                <a:gridCol w="2606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구분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변수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정의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설정 이유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종속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㎡당 가격 (log)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층 · 연도를 보정한 실거래가의 단지 평균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같은 단지 거래는 좌표가 같아 단지 단위로 집계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입지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지하철 거리 (log)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최근접 지하철역 직선거리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accent2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동탄2 남부는 2km 안에 역이 없어 넣지 않는다 (가장 가까운 역 약 4km)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중규모공원 거리 (log)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10ha 이상 공원 중심까지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공원 위계 — 대표공원과 분리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초등학교 5분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최근접 초등학교 300m 이내 = 1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아이가 혼자 걸어가는 거리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택지지구 밖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택지개발지구 경계 밖 = 1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2km 안에 든 지구 밖 단지의 가격 단층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 row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단지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건축연령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2025 − 사용승인연도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헤도닉 표준 단지 특성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세대수 (log)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총 세대수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1군 브랜드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10대 건설사 = 1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세대당 주차대수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주차대수 ÷ 세대수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84형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대표 평형 84형 = 1, 59형 = 0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595360" y="1325880"/>
            <a:ext cx="3047695" cy="466344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5" name="Shape 2"/>
          <p:cNvSpPr/>
          <p:nvPr/>
        </p:nvSpPr>
        <p:spPr>
          <a:xfrm>
            <a:off x="8823960" y="1591056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043416" y="1508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가격을 만드는 방식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1920240"/>
            <a:ext cx="25904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평형: 59형(49~69㎡) · 84형(74~94㎡)만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해제 · 직거래 제외 → 같은 단지 · 같은 평형 시세보다 20% 넘게 싸거나 비싼 거래 제외 (24건)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층 · 연도 보정: 단지 고정효과 회귀로 모든 거래를 중위층 · 2025년 가격으로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단지당 한 평형(84형 우선), 거래 2건 이상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823960" y="4407408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043416" y="43251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왜 로그인가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823960" y="4709160"/>
            <a:ext cx="25904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가격: 효과를 %로 읽는다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거리 · 세대수 · 상권: 가까울수록 · 작을수록 1단위의 값이 크다(체감)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분석 모형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ln Pᵢ = β₀ + γ · ln Dᵢ + θ · ln Mᵢ + Σ δₖXᵢₖ + εᵢ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P: ㎡당 가격 · D: 대표공원 진출입로 거리 · M: 생활상권 지수 · X: 통제변수 · 구역별 최소자승법(OLS), 이분산-로버스트 표준오차(HC1)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362858" cy="246888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862072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1단계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헤도닉 회귀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공원의 자본화 — γ는 탄력성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(거리 1% ↑ → 가격 γ% 변화)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84650" y="3840480"/>
            <a:ext cx="356616" cy="0"/>
          </a:xfrm>
          <a:prstGeom prst="line">
            <a:avLst/>
          </a:prstGeom>
          <a:noFill/>
          <a:ln w="22225">
            <a:solidFill>
              <a:srgbClr val="6B6F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14418" y="2606040"/>
            <a:ext cx="336285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F7D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88738" y="2862072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2단계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88738" y="320040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상권의 매개 · 조절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88738" y="379476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매개: 공원 → 상권 → 가격 (Baron &amp; Kenny + 부트스트랩)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조절: 공원 × 상권 교차항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50429" y="3840480"/>
            <a:ext cx="356616" cy="0"/>
          </a:xfrm>
          <a:prstGeom prst="line">
            <a:avLst/>
          </a:prstGeom>
          <a:noFill/>
          <a:ln w="22225">
            <a:solidFill>
              <a:srgbClr val="6B6F6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80197" y="2606040"/>
            <a:ext cx="3362858" cy="246888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54517" y="2862072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3단계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554517" y="320040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공간 진단 · 강건성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54517" y="379476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잔차의 Moran's I → 공간오차모형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분위회귀 · 함수형 · 정의 변경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다섯 구역은 가격 수준과 구조가 서로 다른 시장이라 합치지 않고 따로 추정한다.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헤도닉 회귀 결과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대표공원 거리는 다섯 구역 모두에서 음(−)으로 유의하다 — 공원에 가까울수록 비싸다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130552"/>
                <a:gridCol w="1792224"/>
                <a:gridCol w="1792224"/>
                <a:gridCol w="1792224"/>
                <a:gridCol w="1792224"/>
                <a:gridCol w="1792224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변수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동탄2 남부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동탄2 북부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동탄1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광교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일월저수지 일대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대표공원 거리 (log)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−0.113***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−2.84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−0.085***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−4.46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−0.090***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−3.12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−0.085**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−2.36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−0.071**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−2.07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D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생활상권 지수 (log)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+0.233*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1.87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+0.221***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2.92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+0.318***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3.88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−0.028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−0.43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+0.270***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4.12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지하철 거리 (log)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—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−0.210***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−5.19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−0.239***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−3.53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−0.190***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−5.41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−0.111**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−2.47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중규모공원 거리 (log)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+0.011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0.26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+0.107***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3.83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−0.082*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−1.78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+0.095*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1.67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−0.090**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−2.54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건축연령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−0.023***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−5.54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−0.015**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−2.29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−0.025***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−7.86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−0.012***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−3.03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−0.015***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−4.22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세대수 (log)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+0.062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0.89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+0.075**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2.15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+0.062***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2.58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+0.117***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3.59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+0.113***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4.53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1군 브랜드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+0.071*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1.77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+0.002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0.07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+0.045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1.57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+0.095**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2.17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+0.044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0.54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세대당 주차대수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+0.074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0.46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+0.097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1.33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+0.065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0.97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+0.047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0.48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+0.174**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2.21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84형 (59형 대비)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—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−0.167***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−3.76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−0.113***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−3.89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−0.029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−0.42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−0.109***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−3.67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초등학교 5분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−0.037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−0.69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+0.036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1.24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+0.047**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2.18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+0.058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1.18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+0.046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1.39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택지지구 밖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−0.391***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−4.08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—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−0.052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−1.05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−0.143*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−1.78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+0.033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t = 0.59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단지 수 (n)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28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47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66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71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73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R² (수정 R²)</a:t>
                      </a:r>
                      <a:endParaRPr lang="en-US" sz="10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0.93 (0.90)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0.94 (0.92)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0.93 (0.92)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0.80 (0.77)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0.83 (0.80)</a:t>
                      </a:r>
                      <a:endParaRPr lang="en-US" sz="10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54864" marR="54864" marT="9144" marB="9144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26364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계수 · 아래는 t값 · *** p&lt;.01  ** p&lt;.05  * p&lt;.10 · — 해당 구역에서 제외 (남부: 역 없음 · 59형 1개 미만, 북부: 지구 밖 1개)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공원 거리의 해석 — 같은 100m도 공원 가까이일수록 비싸다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89888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1307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읽는 법 (다른 조건이 같은 두 단지 비교)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가격 비 = (D₁ / D₀)^γ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거리가 절반이면 0.5^γ − 1. 동탄2 남부 γ = -0.113 → 0.5^(-0.113) − 1 = +8.1%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금액: +8.1% × ㎡당 764만원 × 84㎡ ≈ +5,206만원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868680"/>
                <a:gridCol w="960120"/>
                <a:gridCol w="1005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거리 변화</a:t>
                      </a:r>
                      <a:endParaRPr lang="en-US" sz="12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줄어든 거리</a:t>
                      </a:r>
                      <a:endParaRPr lang="en-US" sz="12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가격 변화</a:t>
                      </a:r>
                      <a:endParaRPr lang="en-US" sz="12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84㎡ (만원)</a:t>
                      </a:r>
                      <a:endParaRPr lang="en-US" sz="12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100m당 (만원)</a:t>
                      </a:r>
                      <a:endParaRPr lang="en-US" sz="12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2,000m → 1,000m</a:t>
                      </a:r>
                      <a:endParaRPr lang="en-US" sz="12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1,000m</a:t>
                      </a:r>
                      <a:endParaRPr lang="en-US" sz="12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+8.1%</a:t>
                      </a:r>
                      <a:endParaRPr lang="en-US" sz="12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+5,206</a:t>
                      </a:r>
                      <a:endParaRPr lang="en-US" sz="12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accent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+521</a:t>
                      </a:r>
                      <a:endParaRPr lang="en-US" sz="12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1,000m → 500m</a:t>
                      </a:r>
                      <a:endParaRPr lang="en-US" sz="12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500m</a:t>
                      </a:r>
                      <a:endParaRPr lang="en-US" sz="12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+8.1%</a:t>
                      </a:r>
                      <a:endParaRPr lang="en-US" sz="12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+5,206</a:t>
                      </a:r>
                      <a:endParaRPr lang="en-US" sz="12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accent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+1,041</a:t>
                      </a:r>
                      <a:endParaRPr lang="en-US" sz="12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400m → 200m</a:t>
                      </a:r>
                      <a:endParaRPr lang="en-US" sz="12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200m</a:t>
                      </a:r>
                      <a:endParaRPr lang="en-US" sz="12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+8.1%</a:t>
                      </a:r>
                      <a:endParaRPr lang="en-US" sz="12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+5,206</a:t>
                      </a:r>
                      <a:endParaRPr lang="en-US" sz="12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accent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+2,603</a:t>
                      </a:r>
                      <a:endParaRPr lang="en-US" sz="12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074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어디서 출발하든 '절반'이면 같은 %가 오르지만, 가까울수록 줄어드는 미터가 짧아 100m의 값이 커진다 — 편익은 거리에 따라 체감한다.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55080" y="1389888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74536" y="1307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구역별 — 84㎡ 기준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737360"/>
          <a:ext cx="528797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005840"/>
                <a:gridCol w="868680"/>
                <a:gridCol w="1051560"/>
                <a:gridCol w="9445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구역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탄력성 γ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중위 거리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100m 가까이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거리 절반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동탄2 남부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−0.113***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910m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+846만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+5,207만</a:t>
                      </a:r>
                      <a:endParaRPr lang="en-US" sz="120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동탄2 북부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−0.085***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711m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+1,131만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+5,296만</a:t>
                      </a:r>
                      <a:endParaRPr lang="en-US" sz="120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동탄1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−0.090***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1,289m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+357만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+3,149만</a:t>
                      </a:r>
                      <a:endParaRPr lang="en-US" sz="120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광교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−0.085**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1,234m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+525만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+4,424만</a:t>
                      </a:r>
                      <a:endParaRPr lang="en-US" sz="120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일월저수지 일대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−0.071**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1,311m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+283만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+2,528만</a:t>
                      </a:r>
                      <a:endParaRPr lang="en-US" sz="120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355080" y="4617720"/>
            <a:ext cx="52879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100m 가까이: 중위 거리 단지 기준 · 금액 = 변화율 × 구역 평균 ㎡당 가격 × 84㎡ · 북부는 공원이 단지들 사이에 있어 중위 거리가 짧고, 그래서 100m의 값이 가장 크다.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상권의 매개효과 — 공원이 상권을 키우고, 그 상권이 가격을 올리는가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560320"/>
            <a:ext cx="1737360" cy="68580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공원 거리 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880360" y="1508760"/>
            <a:ext cx="1737360" cy="68580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880360" y="1508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상권 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0" y="2560320"/>
            <a:ext cx="1737360" cy="68580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212080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가격 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flipV="1">
            <a:off x="2011680" y="2176272"/>
            <a:ext cx="868680" cy="384048"/>
          </a:xfrm>
          <a:prstGeom prst="line">
            <a:avLst/>
          </a:prstGeom>
          <a:noFill/>
          <a:ln w="22225">
            <a:solidFill>
              <a:srgbClr val="5F7D6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17720" y="2167128"/>
            <a:ext cx="868680" cy="393192"/>
          </a:xfrm>
          <a:prstGeom prst="line">
            <a:avLst/>
          </a:prstGeom>
          <a:noFill/>
          <a:ln w="22225">
            <a:solidFill>
              <a:srgbClr val="5F7D6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86000" y="2898648"/>
            <a:ext cx="2926080" cy="0"/>
          </a:xfrm>
          <a:prstGeom prst="line">
            <a:avLst/>
          </a:prstGeom>
          <a:noFill/>
          <a:ln w="22225">
            <a:solidFill>
              <a:srgbClr val="9A6656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148840" y="2011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011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c′ (직접)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508760"/>
            <a:ext cx="43278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(1) 총효과 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ln P = β₀ + c · ln D + δX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(2) a 경로 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ln M = α₀ + a · ln D + δX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(3) 직접 · b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ln P = β₀ + c′ · ln D + b · ln M + δX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c = c′ + a · b  →  상권을 거친 몫 = a · b,  매개 비율 = a · b ÷ c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09441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1371600"/>
                <a:gridCol w="1371600"/>
                <a:gridCol w="1325880"/>
                <a:gridCol w="2377440"/>
                <a:gridCol w="172181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구역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총효과 c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a 공원→상권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b 상권→가격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직접효과 c′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간접효과 a·b (95% 구간)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판정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동탄1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−0.144***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−0.168***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+0.318***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−0.090***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−0.053 (−0.088 ~ −0.024)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부분매개 37%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일월저수지 일대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−0.117***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−0.172***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+0.270***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−0.071**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−0.046 (−0.102 ~ −0.007)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부분매개 40%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동탄2 남부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−0.151***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−0.166***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+0.233*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−0.113***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−0.039 (−0.124 ~ 0.023)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없음 (b 비유의)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동탄2 북부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−0.085***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0.001</a:t>
                      </a:r>
                      <a:endParaRPr lang="en-US" sz="120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+0.221***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−0.085***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0.000 (−0.027 ~ 0.021)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없음 (a 비유의)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광교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−0.085**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0.011</a:t>
                      </a:r>
                      <a:endParaRPr lang="en-US" sz="120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−0.028</a:t>
                      </a:r>
                      <a:endParaRPr lang="en-US" sz="120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−0.085**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−0.000 (−0.012 ~ 0.011)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없음 (a·b 모두 비유의)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매개와 조절 — 상권은 공원 효과를 '나르는가', '키우는가'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137160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매개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5910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공원 → 상권 → 가격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933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상권이 공원의 가치를 실어 나르는가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c = c′ + a · b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120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F7D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조절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0998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공원 × 상권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5021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상권이 큰 곳에서 공원의 가치가 더 커지는가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40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ln P = … + β₁D̃ + β₂M̃ + β₃(D̃ × M̃)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80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D̃ · M̃: 구역 평균을 뺀 ln 거리 · ln 상권 → β₁ = 평균 상권에서의 공원 효과, β₃ &lt; 0이면 상권이 클수록 공원 효과가 강하다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371600"/>
          <a:ext cx="5653735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914400"/>
                <a:gridCol w="1051560"/>
                <a:gridCol w="1051560"/>
                <a:gridCol w="640080"/>
                <a:gridCol w="67025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구역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교차항 β₃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상권 하위 (−1SD)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상권 상위 (+1SD)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매개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조절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동탄2 남부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−0.011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−0.110**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−0.115**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—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—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동탄2 북부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−0.031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−0.077***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−0.094***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—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—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동탄1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−0.241***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+0.001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−0.087***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37%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있음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광교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−0.315***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+0.031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−0.211***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—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있음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일월저수지 일대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−0.248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+0.008</a:t>
                      </a:r>
                      <a:endParaRPr lang="en-US" sz="115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−0.154**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40%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—</a:t>
                      </a:r>
                      <a:endParaRPr lang="en-US" sz="115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989320" y="4251960"/>
            <a:ext cx="56537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광교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매개는 없지만 조절은 뚜렷하다 — 상권이 작은 쪽에서는 공원 효과가 없고(+0.031), 큰 쪽(광교중앙역 상업지구 쪽)에서 −0.211***.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동탄1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매개와 조절이 모두 있다 — 공원과 상업이 한 축으로 계획된 곳.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일월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매개만 있다 — 공원 둘레 상권이 공원의 몫을 나눈다.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강건성 — 결과는 설정을 바꿔도 유지되는가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615665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점검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방법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결과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7D6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공간 의존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잔차의 Moran's I (k = 3 · 4 · 5) → 공간오차모형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일월만 공간자기상관(I 0.15~0.2). 공간오차모형에서 일월 공원 계수 −0.073~−0.056, p 0.04~0.13로 약해진다</a:t>
                      </a:r>
                      <a:endParaRPr lang="en-US" sz="120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가격대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25 · 50 · 75분위 회귀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남부 · 광교는 저가 · 중위에서 크고 고가에서 약하다(광교 −0.135*** · −0.148*** · −0.035). 동탄1은 고가에서 더 크다(−0.131***) — 경향으로만 읽는다</a:t>
                      </a:r>
                      <a:endParaRPr lang="en-US" sz="120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함수형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가격 수준 · 거리 로그(선형-로그)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다섯 구역 모두 같은 방향으로 유의 → 이중로그 유지 (구역 간 탄력성 비교)</a:t>
                      </a:r>
                      <a:endParaRPr lang="en-US" sz="120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공원 거리 정의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진출입로 대신 공원 경계까지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남부 −0.110*** · 북부 −0.036*** · 동탄1 −0.026 · 광교 −0.055* · 일월 −0.072** — 선형 · 대형 공원일수록 진출입로가 이용을 더 잘 반영</a:t>
                      </a:r>
                      <a:endParaRPr lang="en-US" sz="120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상권 업종 정의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이전 정의: 음식 · 소매 · 보건의료 전체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공원 계수 남부 −0.115*** · 북부 −0.086*** · 동탄1 −0.081*** · 광교 −0.086** · 일월 −0.073** — 거의 같다</a:t>
                      </a:r>
                      <a:endParaRPr lang="en-US" sz="120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북부 진출입로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이전: 동탄여울공원 동서남북 자동 4점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현장 확인 진출입로로 바꾸자 −0.065*** → −0.085***</a:t>
                      </a:r>
                      <a:endParaRPr lang="en-US" sz="120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Bold" pitchFamily="34" charset="0"/>
                          <a:ea typeface="KoPubDotum Bold" pitchFamily="34" charset="-122"/>
                          <a:cs typeface="KoPubDotum Bold" pitchFamily="34" charset="-120"/>
                        </a:rPr>
                        <a:t>구역 통합</a:t>
                      </a:r>
                      <a:endParaRPr lang="en-US" sz="1200" dirty="0">
                        <a:latin typeface="KoPubDotum Bold" charset="0"/>
                        <a:ea typeface="KoPubDotum Bold" charset="0"/>
                        <a:cs typeface="KoPubDotum 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Light" pitchFamily="34" charset="0"/>
                          <a:ea typeface="KoPubDotum Light" pitchFamily="34" charset="-122"/>
                          <a:cs typeface="KoPubDotum Light" pitchFamily="34" charset="-120"/>
                        </a:rPr>
                        <a:t>다섯 구역 + 지역 고정효과</a:t>
                      </a:r>
                      <a:endParaRPr lang="en-US" sz="1200" dirty="0">
                        <a:latin typeface="KoPubDotum Light" charset="0"/>
                        <a:ea typeface="KoPubDotum Light" charset="0"/>
                        <a:cs typeface="KoPubDotum Light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KoPubDotum Medium" pitchFamily="34" charset="0"/>
                          <a:ea typeface="KoPubDotum Medium" pitchFamily="34" charset="-122"/>
                          <a:cs typeface="KoPubDotum Medium" pitchFamily="34" charset="-120"/>
                        </a:rPr>
                        <a:t>공원 기울기가 구역마다 다르고(p = 0.0001), 잔차 자기상관이 크다(I 0.34) → 구역별 추정 유지</a:t>
                      </a:r>
                      <a:endParaRPr lang="en-US" sz="1200" dirty="0">
                        <a:latin typeface="KoPubDotum Medium" charset="0"/>
                        <a:ea typeface="KoPubDotum Medium" charset="0"/>
                        <a:cs typeface="KoPubDotum Medium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결론과 시사점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5F7D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26464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대형공원은 다섯 구역 모두에서 자본화된다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28800"/>
            <a:ext cx="10408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탄력성 −0.071 ~ −0.113. 다른 조건이 같을 때 공원에 100m 가까운 단지는 84㎡ 기준 약 283만 ~ 1,131만원 비싸다.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5F7D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96896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상권을 거치는지는 공원의 배치가 정한다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99232"/>
            <a:ext cx="10408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공원과 상업이 한 축인 동탄1(37%), 공원 둘레에 상권이 붙은 일월(40%)에서만 상권을 거친다. 남부는 상권이 작고, 북부는 상권이 역을 따른다.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457200" cy="457200"/>
          </a:xfrm>
          <a:prstGeom prst="ellipse">
            <a:avLst/>
          </a:prstGeom>
          <a:solidFill>
            <a:srgbClr val="5F7D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76732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공원과 상권은 서로를 키운다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169664"/>
            <a:ext cx="10408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동탄1 · 광교에서는 상권이 밀집한 곳일수록 공원 효과가 크다. 매개가 없는 광교에서도 공원과 상권은 보완 관계다.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11094415" cy="1143000"/>
          </a:xfrm>
          <a:prstGeom prst="rect">
            <a:avLst/>
          </a:prstGeom>
          <a:solidFill>
            <a:srgbClr val="DCE5D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98348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계획 시사점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공원의 가치는 크기보다 배치에서 나온다. 공원 동선과 생활상권을 한 축으로 계획하면 공원이 만드는 가치가 상권으로 이어지고, 역 중심 생활권에서는 공원을 단지들 사이에 두어야 가격에 반영된다.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연구의 한계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4415" cy="804672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횡단면 자료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71600"/>
            <a:ext cx="75282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한 시점의 비교라 '공원이 상권을 만들었다'는 순서는 계획 맥락에 기댄 해석이다.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11094415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04288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작은 표본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304288"/>
            <a:ext cx="75282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구역당 28~73개 단지 — 계수는 점추정보다 신뢰구간으로 읽는다. 특히 남부는 28개다.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36976"/>
            <a:ext cx="11094415" cy="804672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23697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상권은 등록 점포 기준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236976"/>
            <a:ext cx="75282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상가정보는 실제 방문이 아니라 등록된 점포다. 카드 매출 · 유동인구로 보완할 수 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169664"/>
            <a:ext cx="11094415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169664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직선거리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4169664"/>
            <a:ext cx="75282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보행망에 끊긴 구간이 있어 진출입로까지의 직선거리를 썼다.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102352"/>
            <a:ext cx="11094415" cy="804672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102352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공간 의존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5102352"/>
            <a:ext cx="75282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일월은 잔차의 공간자기상관이 남아, 공원 효과를 보수적으로 읽어야 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부록 A · 가격을 만드는 과정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658569" cy="118872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13842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매칭된 실거래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13842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10,851건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35809" y="1463040"/>
            <a:ext cx="1658569" cy="118872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72969" y="1600200"/>
            <a:ext cx="13842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해제 제외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72969" y="2148840"/>
            <a:ext cx="13842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−447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22978" y="1463040"/>
            <a:ext cx="1658569" cy="118872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60138" y="1600200"/>
            <a:ext cx="13842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직거래 제외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60138" y="2148840"/>
            <a:ext cx="13842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−262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0148" y="1463040"/>
            <a:ext cx="1658569" cy="118872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47308" y="1600200"/>
            <a:ext cx="13842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59 · 84형 밖 제외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47308" y="2148840"/>
            <a:ext cx="13842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−2,175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97317" y="1463040"/>
            <a:ext cx="1658569" cy="1188720"/>
          </a:xfrm>
          <a:prstGeom prst="rect">
            <a:avLst/>
          </a:prstGeom>
          <a:solidFill>
            <a:srgbClr val="F0EE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34477" y="1600200"/>
            <a:ext cx="13842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시세 ±20% 밖 제외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34477" y="2148840"/>
            <a:ext cx="13842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−24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984486" y="1463040"/>
            <a:ext cx="1658569" cy="1188720"/>
          </a:xfrm>
          <a:prstGeom prst="rect">
            <a:avLst/>
          </a:prstGeom>
          <a:solidFill>
            <a:srgbClr val="DCE5D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121646" y="1600200"/>
            <a:ext cx="13842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단지당 한 평형 · 2건 이상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121646" y="2148840"/>
            <a:ext cx="13842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KoPubDotum Medium" pitchFamily="34" charset="0"/>
                <a:ea typeface="KoPubDotum Medium" pitchFamily="34" charset="-122"/>
                <a:cs typeface="KoPubDotum Medium" pitchFamily="34" charset="-120"/>
              </a:rPr>
              <a:t>5,892건 · 285단지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017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층 · 연도 보정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구역 × 평형마다 ln Pᵢⱼₜ = αⱼ + β층 · 층 + β연 · 연도 + ε (αⱼ: 단지 고정효과)를 추정해, 모든 거래를 중위층 · 2025년 가격으로 옮긴 뒤 단지별로 평균한다. 단지 고정효과는 같은 단지 안에서 층과 시점을 비교하게 해, '어느 단지가 언제 거래됐는가'가 계수에 섞이지 않게 한다.</a:t>
            </a:r>
            <a:endParaRPr lang="en-US" sz="1400" dirty="0"/>
          </a:p>
        </p:txBody>
      </p:sp>
      <p:pic>
        <p:nvPicPr>
          <p:cNvPr id="22" name="Image 0" descr="C:\Users\moonc\desktop\KICA 논문작성\07_18_img\02_region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114800"/>
            <a:ext cx="4754880" cy="21854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KoPubDotum Bold" pitchFamily="34" charset="0"/>
                <a:ea typeface="KoPubDotum Bold" pitchFamily="34" charset="-122"/>
                <a:cs typeface="KoPubDotum Bold" pitchFamily="34" charset="-120"/>
              </a:rPr>
              <a:t>부록 B · 거리에 따른 가격 곡선</a:t>
            </a:r>
            <a:endParaRPr lang="en-US" sz="2800" dirty="0"/>
          </a:p>
        </p:txBody>
      </p:sp>
      <p:pic>
        <p:nvPicPr>
          <p:cNvPr id="3" name="Image 0" descr="C:\Users\moonc\desktop\KICA 논문작성\07_19_img\distance_curve.png">    </p:cNvPr>
          <p:cNvPicPr>
            <a:picLocks noChangeAspect="1"/>
          </p:cNvPicPr>
          <p:nvPr/>
        </p:nvPicPr>
        <p:blipFill>
          <a:blip r:embed="rId1"/>
          <a:srcRect l="0" r="0" t="-2408" b="-2408"/>
          <a:stretch/>
        </p:blipFill>
        <p:spPr>
          <a:xfrm>
            <a:off x="548640" y="1325880"/>
            <a:ext cx="11094415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KoPubDotum Light" pitchFamily="34" charset="0"/>
                <a:ea typeface="KoPubDotum Light" pitchFamily="34" charset="-122"/>
                <a:cs typeface="KoPubDotum Light" pitchFamily="34" charset="-120"/>
              </a:rPr>
              <a:t>왼쪽: 직접효과 c′(상권이 같을 때 공원만의 몫) · 오른쪽: 총효과 c(상권을 거친 몫 포함). 점은 중위 거리의 절반에 있는 단지. 관측된 거리 범위 안에서만 그렸다.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KoPubDotum Light"/>
                <a:ea typeface="KoPubDotum Light"/>
                <a:cs typeface="KoPubDotum Light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LR 26-2 Final (vintage green)">
  <a:themeElements>
    <a:clrScheme name="ILR 26-2 Final (vintage green)">
      <a:dk1>
        <a:srgbClr val="333833"/>
      </a:dk1>
      <a:lt1>
        <a:srgbClr val="FFFFFF"/>
      </a:lt1>
      <a:dk2>
        <a:srgbClr val="6B6F68"/>
      </a:dk2>
      <a:lt2>
        <a:srgbClr val="FFFFFF"/>
      </a:lt2>
      <a:accent1>
        <a:srgbClr val="5F7D63"/>
      </a:accent1>
      <a:accent2>
        <a:srgbClr val="9A6656"/>
      </a:accent2>
      <a:accent3>
        <a:srgbClr val="8FA58F"/>
      </a:accent3>
      <a:accent4>
        <a:srgbClr val="BFB9A8"/>
      </a:accent4>
      <a:accent5>
        <a:srgbClr val="4A5A4B"/>
      </a:accent5>
      <a:accent6>
        <a:srgbClr val="A9A399"/>
      </a:accent6>
      <a:hlink>
        <a:srgbClr val="5F7D63"/>
      </a:hlink>
      <a:folHlink>
        <a:srgbClr val="9A6656"/>
      </a:folHlink>
    </a:clrScheme>
    <a:fontScheme name="ILR 26-2 Final (vintage green)">
      <a:majorFont>
        <a:latin typeface="KoPubDotum 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KoPubDotum Medium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최종발표 — 대형공원은 아파트 가격에 자본화되는가</dc:title>
  <dc:subject>PptxGenJS Presentation</dc:subject>
  <dc:creator>문채건</dc:creator>
  <cp:lastModifiedBy>문채건</cp:lastModifiedBy>
  <cp:revision>1</cp:revision>
  <dcterms:created xsi:type="dcterms:W3CDTF">2026-10-11T05:49:52Z</dcterms:created>
  <dcterms:modified xsi:type="dcterms:W3CDTF">2026-10-11T05:49:52Z</dcterms:modified>
</cp:coreProperties>
</file>