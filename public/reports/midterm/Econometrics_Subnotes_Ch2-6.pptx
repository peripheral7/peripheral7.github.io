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EXAM SUBNOTES · ASSUMPTIONS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OLS Assumptions at a Glance: SLR.1–5, MLR.1–6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SLR has one explanatory variable; MLR has several. What each assumption buys, in finite and large samples.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3200400"/>
                <a:gridCol w="4416552"/>
              </a:tblGrid>
              <a:tr h="534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#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Simple (SLR)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Multiple (MLR)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Role / exam point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1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Linear in parameters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Linear in parameters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Linear in coefficients;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regressors may be logged or squared.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2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Random sampling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Random sampling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Observations are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randomly sampled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from the population.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3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Sample variation in 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Σ(xᵢ−x̄)² &gt;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No perfect collinearity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No constant or exact linear dependence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SLR: x must vary. MLR: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exact collinearity prevents identification.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4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Zero conditional mean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E(u|x)=0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Zero conditional mean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E(u|x₁,…,xₖ)=0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Core of unbiasedness.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Consistency needs only the weaker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MLR.4':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E(u)=0, Cov(xⱼ,u)=0 (Ch. 5).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5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Homoskedasticity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Var(u|x)=σ²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Homoskedasticity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Var(u|X)=σ²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Needed for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classical variances, BLUE,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and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large-sample t/F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(Ch. 5).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6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—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Normality of errors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u|X ~ Normal(0,σ²)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Exact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t/F in any sample size;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not needed in large samples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(Ch. 5).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1–4 → unbiased and consistent;  1–5 → BLUE and large-sample t/F;  add MLR.6 → exact t/F in any sample.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28–36; Chapter 3, slides 18–22, 36–38; Chapter 4, slides 5–12; Chapter 5, slides 4–10.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EXAM SUBNOTES · ESTIMATION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Bias and Variance: Simple vs. Multiple Regression 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OLS is an estimation method; SLR and MLR describe the model. Theorems 2.2 and 3.2 give the slope variances.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654296"/>
                <a:gridCol w="4654296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Comparison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Simple regression (SLR)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Multiple regression (MLR)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Source of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E(u|x) ≠ 0.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If x is related to factors left in u (endogeneity), the slope is biased.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E(u|x₁,…,xₖ) ≠ 0.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An omitted variable that affects y and is correlated with an included x causes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omitted-variable bias.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Example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Wage on education: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omitted ability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is related to both, so the education slope is biased.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Controls may reduce bias, but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remaining omitted factors or a wrong functional form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can still violate MLR.4.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Slope variance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Var(β̂₁|x)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= σ² / Σ(xᵢ−x̄)²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Theorem 2.2 · SLR.1–SLR.5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Var(β̂ⱼ|X)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= σ² / [SSTⱼ(1−Rⱼ²)]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670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Theorem 3.2 · MLR.1–MLR.5 · Rⱼ²: R² of xⱼ on the other x’s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Variance drivers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σ²↑ → variance↑.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More variation in x → variance↓. No multicollinearity term.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σ²↑ → variance↑.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SSTⱼ↑ → variance↓.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Rⱼ²↑ → variance↑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(multicollinearity).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9B1C1C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Exam trap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Heteroskedasticity breaks the variance formula and standard errors, but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does not cause bias if E(u|x)=0 holds.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Unless perfect, multicollinearity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raises variance, not bias.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Perfect collinearity </a:t>
                      </a: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violates MLR.3: no identification.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Simple regression is the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Rⱼ² = 0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case of Theorem 3.2. Omitted factors correlated with x →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bias;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large σ², little x variation, strong collinearity →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variance.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31–36; Chapter 3, slides 18–29, 31–33.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2 · SIMPLE REGRESSION ·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Simple Regression: Model, OLS, and Fit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What β₁ measures, when it is causal, and what OLS guarantees in every sample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Model and causal reading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y = β₀ + β₁x + u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u: all unobserved factors.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If Δu = 0, then Δy = β₁Δx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(ceteris paribus).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E(u|x) = E(u) = 0   (conditional mean independence)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If ability sits in u and is related to education, this fails →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β₁ is not a causal effect.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 fitted line alone never establishes causality.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Population regression function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E(y|x) = β₀ + β₁x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 one-unit increase in x changes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mean of y by β₁.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OLS: minimize Σûᵢ²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Σ(xᵢ−x̄)(yᵢ−ȳ) / Σ(xᵢ−x̄)²,  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β̂₀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ȳ −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β̂₁x̄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Same sign as the sample correlation; requires Σ(xᵢ−x̄)² &gt; 0.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Algebraic properties (any sample)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Σûᵢ = 0, Σxᵢûᵢ = 0,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and (x̄, ȳ) lies on the fitted line.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Goodness of fit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SST = SSE + SSR,   R² = SSE/SST = 1 − SSR/SST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 low R² does not make causal estimates useless; a high R² does not establish causality.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 forms change how β₁ is read — see the table in Chapter 6.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 causal reading of β₁ rests on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E(u|x)=0;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OLS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minimizes the sum of squared residuals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and its algebraic properties need no assumptions.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5–26 · Supplement: OLS formulas (standard textbook results)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2 · SIMPLE REGRESSION ·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Unbiasedness and Variance (SLR.1–5)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β̂ is a random variable that changes with the sample: is it right on average, and how much does it vary?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2.1 — Unbiasedness (SLR.1–4)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E(β̂₀)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β₀,  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E(β̂₁)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β₁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Right on average across repeated samples.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Key: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SLR.4, E(u|x)=0.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Homoskedasticity (SLR.5)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Var(u|x) = σ²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Counter-example: wage variance rising with education.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Breaks the variance formula, not unbiasedness.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13232" y="3886200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LECTURE · ECONOMETRICS 1 — POPULATION AND SAMPLE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4178808"/>
            <a:ext cx="5065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whole set we want to study (may be hypothetical).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subset we analyze.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is often too costly to study, so the sample tells us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population is like.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sample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representative?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validity: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conclusions hold outside the study’s context?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2.2 — Variances of OLS (SLR.1–5)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Var(β̂₁|x)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σ² / SSTₓ,   SSTₓ = Σ(xᵢ−x̄)²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Var(β̂₀|x)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σ²·n⁻¹Σxᵢ² / SSTₓ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Higher σ² → higher variance;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more variation in x → lower variance.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 larger sample raises SSTₓ.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2.3 — Error variance and standard errors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σ̂²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SSR / (n − 2),  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E(σ̂²)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σ²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se(β̂₁)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/ √SSTₓ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 − 2: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degrees of freedom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lost by estimating β₀ and β₁.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is the standard error of the regression (SER).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 is unobserved, so σ² is estimated from residuals —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se is an estimate of sd.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SLR.2 (random sampling) is what lets the sample speak for the population.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Unbiasedness needs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SLR.1–4;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 variance formula also needs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SLR.5.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Precision rises with small σ² and large variation in x.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27–38; Econometrics 1, slides 1–4 · Supplement: Var(β̂₀) formula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2 · SIMPLE REGRESSION ·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Binary Regressors, Potential Outcomes, Random Assignment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With a 0/1 regressor, regression compares group means; with random assignment, it estimates a treatment effect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Binary (dummy) explanatory variable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y = β₀ + β₁x + u,   x ∈ {0, 1}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β₀ = E(y|x=0),   β₁ = E(y|x=1) − E(y|x=0)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OLS: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β̂₀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control-group mean; </a:t>
            </a:r>
            <a:r>
              <a:rPr lang="en-US" sz="1400" b="1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β̂₁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difference in group means.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OLS properties are unchanged when x is binary.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Potential outcomes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teᵢ = yᵢ(1) − yᵢ(0),   τ = E[yᵢ(1) − yᵢ(0)]  (ATE)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For any unit we observe yᵢ(1) or yᵢ(0),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never both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we estimate the average treatment effect (ATE).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Observed: yᵢ = (1 − xᵢ)yᵢ(0) + xᵢyᵢ(1)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Link to regression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With a constant effect τ, yᵢ = yᵢ(0) + τxᵢ →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regressing y on x estimates τ.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Under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random assignment,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x is independent of yᵢ(0) → OLS is an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unbiased estimator of τ.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Random assignment (RCTs): meaning and limits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Assign units so there are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 systematic differences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between groups other than treatment. RCTs are costly and may raise ethical issues, but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imagining the ideal experiment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sharpens the causal question.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Example: job training and earnings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Participants earn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$1,790 more,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39.3% increase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over the $4,550 average of non-participants.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 dummy slope is a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difference in group means;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it is an average treatment effect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only under random assignment.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39–43 · Supplement: observed-outcome identity y=(1−x)y(0)+xy(1)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3 · MULTIPLE REGRESSION ·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Multiple Regression: Partial Effects and Partialling 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coefficient on x₁ is a partial slope — generally not the slope of y on x₁ alone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Model and interpretation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y = β₀ + β₁x₁ + β₂x₂ + … + βₖxₖ + u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Δŷ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β̂₁Δx₁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 (Δx₂ = … = Δxₖ = 0)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Regression isolates the effect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holding other x’s fixed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but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not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 unobservables in u. Same ACT, 1 point higher hsGPA → colGPA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0.453 higher.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Partialling out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Regress xⱼ on the other x’s → residuals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r̂ᵢⱼ;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Σr̂ᵢⱼyᵢ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/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Σr̂ᵢⱼ²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uses only the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unique variation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in xⱼ.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R² in multiple regression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Adding a regressor never lowers R²;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 small R² can still give good ceteris paribus estimates.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09944" y="1874520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LECTURE · ECONOMETRICS 2 — SLOPE AND PARTIAL SLOPE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9944" y="2167128"/>
            <a:ext cx="5065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Regressing y on x₁ alone: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is the slope.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multiple regression,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might not be the slope — β₁ is the partial slope.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other regressor moves with x₁,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is not the slope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simple y–x₁ picture.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379476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45352" y="388620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Simple slope vs. partial slope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β̃₁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+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β̂₂δ̃₁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(δ̃₁: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slope of x₂ on x₁)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Equal only if </a:t>
            </a:r>
            <a:r>
              <a:rPr lang="en-US" sz="1400" b="1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0 or </a:t>
            </a:r>
            <a:r>
              <a:rPr lang="en-US" sz="1400" b="1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δ̃₁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0.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 simple slope also carries x₂’s effect through the correlation — the in-sample version of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OVB.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is a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partial slope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from the unique variation in xⱼ; the simple slope differs by </a:t>
            </a:r>
            <a:r>
              <a:rPr lang="en-US" sz="1500" b="1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β̂₂δ̃₁.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3, slides 5–17; Econometrics 2, slides 1–6 · Supplement: β̃₁ = β̂₁ + β̂₂δ̃₁ (standard textbook result)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3 · MULTIPLE REGRESSION ·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 Assumptions, Unbiasedness, Omitted-Variable Bias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Which variables go in or out determines bias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3.1 — Unbiasedness (MLR.1–4)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MLR.1 linear in parameters · MLR.2 random sampling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MLR.3 no perfect collinearity: no constant regressor,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 exact linear relation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(e.g., x₃ = x₁ + x₂); needs n ≥ k+1.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MLR.4 E(u|x₁,…,xₖ) = 0: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more plausible than in simple regression.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E(β̂ⱼ)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βⱼ,   j = 0, 1, …, k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MLR.3 rules out only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perfect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collinearity — high correlation is allowed.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Including an irrelevant variable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Keeps OLS unbiased;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 cost is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possibly higher variance.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General case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With several regressors, omitting one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generally biases all coefficients;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 direction is hard to sign.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Omitted-variable bias (OVB) — simple case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True: y = β₀ + β₁x₁ + β₂x₂ + u    Estimated: y on x₁ only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E(β̃₁)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β₁ +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β₂δ̃₁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 → </a:t>
            </a:r>
            <a:r>
              <a:rPr lang="en-US" sz="14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bias = β₂ · </a:t>
            </a:r>
            <a:r>
              <a:rPr lang="en-US" sz="1400" b="1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δ̃₁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 bias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if β₂ = 0 or x₁ and x₂ are uncorrelated.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33756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Corr(x₁, x₂) &gt; 0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Corr(x₁, x₂) &lt; 0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β₂ &gt;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Positive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Negative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β₂ &lt;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Negative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Positive bias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245352" y="457200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Omitting ability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in a wage equation: ability raises wages (+) and correlates with education (+) →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upward bias in the return to education.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An omitted variable that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affects y and correlates with an included x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causes bias, signed by β₂ and the correlation.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3, slides 18–26 · Supplement: OVB formula and sign table (standard textbook result)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3 · MULTIPLE REGRESSION ·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OLS Variance, Multicollinearity, Gauss–Markov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Three drivers of precision, the bias–variance tradeoff, and why OLS is BLUE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3.2 — Slope variances (MLR.1–5)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Var(β̂ⱼ|X)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σ² / [SSTⱼ(1 − Rⱼ²)]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σ²: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more noise → higher variance.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SSTⱼ: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more variation in xⱼ → lower variance; grows with n.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Rⱼ²: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others explain xⱼ better → higher variance.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Multicollinearity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VIFⱼ = 1 / (1 − Rⱼ²)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Precision, not bias;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not an MLR.3 violation. Only the variables involved are affected.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Bias–variance tradeoff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β₂ = 0: dropping x₂ lowers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Var(β̃₁).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β₂ ≠ 0: dropping x₂ biases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β̃₁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bias remains as n grows.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3.3 — Error variance and 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σ̂²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SSR / (n − k − 1)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/ √[SSTⱼ(1 − Rⱼ²)]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 − k − 1 =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degrees of freedom.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This se is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valid only under homoskedasticity (MLR.5).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3.4 — Gauss–Markov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Under MLR.1–5, OLS is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BLUE: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linear (Σwᵢⱼyᵢ), unbiased, and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smallest variance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among linear unbiased estimators.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Under heteroskedasticity,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OLS stays unbiased but is no longer best.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Controls and causal questions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Treatment w plus controls x approximates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random assignment conditional on observables.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Collinearity inflates variance; omitted variables cause bias.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Under MLR.1–5 OLS is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BLUE.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3, slides 27–41 · Supplement: VIF formula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4 · INFERENCE ·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Normal Errors, the t Distribution, and t Tests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MLR.6 gives exact sampling distributions; choose the direction of H₁ before seeing results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3657600"/>
                <a:gridCol w="29535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Alternative H₁ (H₀: βⱼ = 0)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Type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Rejection rule (level α, c: critical value)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Slide example (5%)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βⱼ &gt;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Right-tailed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 &gt; c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 (upper tail α)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df = 28: t &gt; 1.701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βⱼ &lt;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Left-tailed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 &lt; −c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 (lower tail α)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df = 18: t &lt; −1.734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βⱼ ≠ 0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Two-tailed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|t| &gt; c</a:t>
                      </a: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  (α/2 in each tail)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|t| &gt; 2.06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4612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337560"/>
            <a:ext cx="5394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MLR.6 and the CLM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 ~ Normal(0, σ²), independent of the x’s. MLR.1–6 =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classical linear model.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Then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is normal (Thm 4.1) and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− βⱼ) /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~ t(n − k − 1)   (Thm 4.2)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Normality fails for wages, counts, 0/1 outcomes —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logs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can help; Ch. 5 drops MLR.6.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General hypothesis H₀: βⱼ = aⱼ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− aⱼ) /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5352" y="324612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45352" y="3337560"/>
            <a:ext cx="5394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p-values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smallest significance level at which H₀ is rejected.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Two-sided: p = P(|T| &gt; |t|).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P(|T| &gt; 1.85) = 2 × 0.0359 =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0.0718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reject at 10%, not at 5%.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 &lt; α ⇔ reject H₀.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Say “fail to reject,”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never “accept H₀.”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Large df, two-sided 10/5/1%: 1.645 / 1.96 / 2.576.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School size: insignificant in levels →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significant in logs;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functional form matters.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Under MLR.1–6,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= </a:t>
            </a:r>
            <a:r>
              <a:rPr lang="en-US" sz="1500" b="1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(β̂ⱼ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− aⱼ)/se ~ t(n−k−1);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reject with the region that matches H₁, or when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 &lt; α.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4, slides 5–27 · Supplement: large-sample critical values (1.645/1.96/2.576)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4 · INFERENCE ·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Confidence Intervals, Economic Significance, Linear Combinations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Intervals show precision; reparameterization gives the standard error of a coefficient difference directly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Confidence intervals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± c ·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c: 97.5th percentile of t(n−k−1); large df: 1.96 (90%: 1.645; 99%: 2.576).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bounds are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random.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In repeated samples,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95% of intervals built this way cover the true βⱼ.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aⱼ outside the 95% CI ⇔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reject H₀: βⱼ = aⱼ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in a 5% two-sided test.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Statistical vs. economic significance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If significant, judge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magnitude and units.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Significant ≠ important: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large n makes small effects significant.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Important but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wrong sign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suspect misspecification.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Testing a linear combination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log(wage) = β₀ + β₁jc + β₂univ + β₃exper + u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H₀: β₁ = β₂ vs H₁: β₁ &lt; β₂,   t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(β̂₁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−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/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−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se(β̂₁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−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β̂₂)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needs </a:t>
            </a:r>
            <a:r>
              <a:rPr lang="en-US" sz="1400" b="1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Cov(β̂₁,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</a:t>
            </a:r>
            <a:r>
              <a:rPr lang="en-US" sz="1400" b="1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β̂₂),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which is not in standard output.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Fix: reparameterize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θ₁ = β₁ − β₂  →  β₁ = θ₁ + β₂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log(wage) = β₀ + θ₁jc + β₂(jc + univ) + β₃exper + u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Create totcoll = jc + univ: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coefficient and se on jc are </a:t>
            </a:r>
            <a:r>
              <a:rPr lang="en-US" sz="1400" b="1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θ̂₁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and </a:t>
            </a:r>
            <a:r>
              <a:rPr lang="en-US" sz="1400" b="1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se(θ̂₁).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Works for any single linear hypothesis.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 95% CI covers the truth in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95% of repeated samples;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compare coefficients by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reparameterizing.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4, slides 28–35 · Supplement: large-sample critical values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4 · INFERENCE ·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Tests: Multiple Linear Restrictions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Ask whether imposing the restrictions raises SSR by “enough”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Testing exclusion restrictions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H₀: βₖ₋q₊₁ = … = βₖ = 0   (q restrictions)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Estimate the unrestricted model (ur) and the restricted model (r, q variables dropped).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= [(SSRᵣ − SSRᵤᵣ)/q] / [SSRᵤᵣ/(n − k − 1)] ~ F(q, n − k − 1)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Dropping variables can only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raise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SSR → F ≥ 0.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Reject H₀ if F &gt; c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(upper-α critical value), or if p &lt; α.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R² form (same dependent variable only):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= [(R²ᵤᵣ − R²ᵣ)/q] / [(1 − R²ᵤᵣ)/(n − k − 1)]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Individually insignificant, jointly significant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Highly correlated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regressors can each have small t yet be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jointly significant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use F, not repeated t tests.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Overall significance of the regression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H₀: β₁ = … = βₖ = 0,   F = (R²/k) / [(1 − R²)/(n − k − 1)]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General linear restrictions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Rational house-price assessments: assessment coefficient = 1, others = 0. The restriction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changes the dependent variable → use only the SSR form.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With one restriction (q = 1),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= t²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same conclusion as the two-sided t test.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Test several restrictions with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F based on the rise in SSR;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if the dependent variable changes, use the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SSR form.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4, slides 36–43 · Supplement: F = t²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5 · OLS ASYMPTOTICS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Consistency and Large-Sample Inference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What OLS guarantees as n grows — without normal errors, but still with MLR.1–5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Consistency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plim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βⱼ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probability of being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arbitrarily close to the truth → 1 as n grows.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 minimum requirement for any estimator.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5.1 and MLR.4'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plim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β₁ + Cov(x₁, u) / Var(x₁)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MLR.4':  E(u) = 0,  Cov(xⱼ, u) = 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Zero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correlation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suffices → OLS may be biased but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consistent.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Asymptotic omitted-variable bias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plim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β̃₁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β₁ + β₂δ₁,   δ₁ = Cov(x₁, x₂) / Var(x₁)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Inconsistency does not shrink with 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Theorem 5.2 — Asymptotic normality (MLR.1–5)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− βⱼ) /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~ᵃ  Normal(0, 1)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tests, CIs, and F tests are valid in large samples without MLR.6.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MLR.1–5 are still necessary — especially homoskedasticity.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Why large samples are better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≈ cⱼ / √n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Quadrupling n roughly halves the se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(birth-weight example).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LM statistic for q exclusion restrictions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LM = n · R²ᵤ  ~ᵃ  χ²(q)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R²ᵤ: from regressing restricted-model residuals on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all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x’s. Testing normality gives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 actionable response.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MLR.1–3 + MLR.4' → consistency; MLR.1–5 → large-sample t/F without normality.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OVB does not vanish as n grows.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5, slides 2–12 · Supplement: plim formulas, MLR.4', se ≈ c/√n, LM statistic (equations are images in the slides)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6 · FURTHER ISSUES ·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Units, Standardized Coefficients, Logs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Rescaling changes coefficients but not significance; logs change interpretation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Changing units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y × c: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every coefficient and se × c;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and R² unchanged.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xⱼ × c: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and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se(β̂ⱼ)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÷ c;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and R² unchanged.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Standardized (beta) coefficients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(σ̂ⱼ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/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σ̂ᵧ)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·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β̂ⱼ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One-sd change in xⱼ →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b̂ⱼ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sd change in y.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When to use logs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% / elasticity reading; slopes invariant to rescaling; tames outliers; helps normality and homoskedasticity.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 not log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years, percentage points, or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zero/negative values;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logs are hard to undo for prediction.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868680"/>
                <a:gridCol w="868680"/>
                <a:gridCol w="2240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Model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y-side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x-side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Interpretation of β₁</a:t>
                      </a:r>
                      <a:endParaRPr lang="en-US" sz="14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Level–level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Δy = β₁Δx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Log–level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log(y)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%Δy ≈ (100β₁)Δx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Level–log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y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log(x)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Δy ≈ (β₁/100)%Δx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Log–log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log(y)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log(x)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NanumMyeongjo" pitchFamily="34" charset="0"/>
                          <a:ea typeface="NanumMyeongjo" pitchFamily="34" charset="-122"/>
                          <a:cs typeface="NanumMyeongjo" pitchFamily="34" charset="-120"/>
                        </a:rPr>
                        <a:t>%Δy ≈ β₁%Δx (elasticity)</a:t>
                      </a:r>
                      <a:endParaRPr lang="en-US" sz="1200" dirty="0">
                        <a:latin typeface="NanumMyeongjo" charset="0"/>
                        <a:ea typeface="NanumMyeongjo" charset="0"/>
                        <a:cs typeface="NanumMyeongjo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45352" y="3794760"/>
            <a:ext cx="5394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9944" y="3886200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LECTURE · ECONOMETRICS 2 — LINEAR RELATIONSHIPS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9944" y="4178808"/>
            <a:ext cx="5065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has a linear relationship with log(price),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with price.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log(sunlight) has a linear relationship with log(price);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sunlight does not with price.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does not have a linear relationship with log(price).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Rescaling leaves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 and R² unchanged;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linearity is judged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 the transformed variables the model uses.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2, slides 22–26; Chapter 6, slides 2–7; Econometrics 2, slides 7–12 · Supplement: rescaling rules, beta coefficients, level–log row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6 · FURTHER ISSUES ·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Quadratics, Interactions, Average Partial Effects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When the partial effect of x depends on the level of x or of another regressor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Quadratic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ŷ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β̂₀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+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β̂₁x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+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β̂₂x²,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  Δŷ ≈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(β̂₁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+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2β̂₂x)Δx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Turnaround: x*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|β̂₁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/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(2β̂₂)|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Wage–experience: the wage peaks at about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24.4 years.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Does the return turn negative after that?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Not necessarily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check how many observations lie beyond x* and whether the quadratic is the right shape.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Housing prices with rooms and rooms²: the turnaround falls at a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low room count where few houses lie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→ the negative region is practically irrelevant.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Also possible: quadratics with logs, higher polynomials.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Interaction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y = β₀ + β₁x₁ + β₂x₂ + β₃x₁x₂ + u,   ∂y/∂x₂ = β₂ + β₃x₁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β₂ is the effect of x₂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when x₁ = 0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— often not meaningful.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Reparameterize: … + β₃(x₁ − μ₁)(x₂ − μ₂)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Then the coefficient on x₂ is its effect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at the mean of x₁,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with a ready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standard error.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Average partial effect (APE)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Compute each unit’s partial effect at its own x’s with the estimates, then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average across the sample.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352" y="457200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09944" y="4663440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LECTURE · ECONOMETRICS 2 — INTERACTION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4956048"/>
            <a:ext cx="5065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and battery interact with each other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battery does not have a linear relationship with log(price).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With quadratics or interactions the partial effect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varies with x;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report it at meaningful values (centering) or as an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APE.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6, slides 8–15; Econometrics 2, slides 13–15 · Supplement: centered interaction form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CHAPTER 6 · FURTHER ISSUES ·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Choosing Regressors and Prediction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R² is not the goal; predicting the mean differs from predicting one outcome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Adjusted R²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R̄² = 1 − (1 − R²)(n − 1)/(n − k − 1)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Penalizes extra regressors;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adding one raises R̄²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iff its |t| &gt; 1.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Use for nonnested models;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never compare R² across different y’s.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Controlling for too many factors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 not control for the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channel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of the effect: beer consumption (fatalities on beer taxes), doctor visits (health spending on pesticides).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Adding regressors to cut σ²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A regressor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uncorrelated with the others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lowers σ² without multicollinearity (beer price elasticity).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Mean prediction vs. prediction interval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Regress y on (xⱼ − cⱼ):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intercept = ŷ⁰ with se(ŷ⁰).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se(ê⁰) = √[ se(ŷ⁰)² +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σ̂²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],   ŷ⁰ ± c · se(ê⁰)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The PI is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wider: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σ̂²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does not shrink as n grows.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Predicting y when log(y) is the dependent variable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ŷ =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α̂₀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· exp(log(y)-hat),   </a:t>
            </a:r>
            <a:r>
              <a:rPr lang="en-US" sz="1400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α̂₀</a:t>
            </a:r>
            <a:r>
              <a:rPr lang="en-US" sz="14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= n⁻¹ Σ exp(ûᵢ)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Needs u independent of the x’s; exp(log(y)-hat) alone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underestimates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E(y|x). </a:t>
            </a:r>
            <a:r>
              <a:rPr lang="en-US" sz="1400" dirty="0">
                <a:solidFill>
                  <a:srgbClr val="2B2B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α̂₀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is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consistent, not unbiased.</a:t>
            </a:r>
            <a:endParaRPr lang="en-US" sz="1500" dirty="0"/>
          </a:p>
          <a:p>
            <a:pPr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Residual analysis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Large negative ûᵢ → unit </a:t>
            </a:r>
            <a:r>
              <a:rPr lang="en-US" sz="1400" b="1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below its predicted value</a:t>
            </a:r>
            <a:r>
              <a:rPr lang="en-US" sz="1400" dirty="0">
                <a:solidFill>
                  <a:srgbClr val="2B2B2B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(e.g., an under-priced house).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Use R̄² only with the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same y;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control for what the </a:t>
            </a:r>
            <a:r>
              <a:rPr lang="en-US" sz="1500" b="1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question</a:t>
            </a:r>
            <a:r>
              <a:rPr lang="en-US" sz="1500" dirty="0">
                <a:solidFill>
                  <a:srgbClr val="1F3A5F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 requires; a prediction interval adds </a:t>
            </a:r>
            <a:r>
              <a:rPr lang="en-US" sz="1500" b="1" dirty="0">
                <a:solidFill>
                  <a:srgbClr val="1F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σ̂².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NanumMyeongjo" pitchFamily="34" charset="0"/>
                <a:ea typeface="NanumMyeongjo" pitchFamily="34" charset="-122"/>
                <a:cs typeface="NanumMyeongjo" pitchFamily="34" charset="-120"/>
              </a:rPr>
              <a:t>Sources: Chapter 6, slides 16–25 · Supplement: interval formulas and α̂₀ (standard textbook results)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F6670"/>
                </a:solidFill>
                <a:latin typeface="NanumMyeongjo"/>
                <a:ea typeface="NanumMyeongjo"/>
                <a:cs typeface="NanumMyeongj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-Professional">
  <a:themeElements>
    <a:clrScheme name="Navy-Professional">
      <a:dk1>
        <a:srgbClr val="2B2B2B"/>
      </a:dk1>
      <a:lt1>
        <a:srgbClr val="FFFFFF"/>
      </a:lt1>
      <a:dk2>
        <a:srgbClr val="1F3A5F"/>
      </a:dk2>
      <a:lt2>
        <a:srgbClr val="F3F6FA"/>
      </a:lt2>
      <a:accent1>
        <a:srgbClr val="1F3A5F"/>
      </a:accent1>
      <a:accent2>
        <a:srgbClr val="9B1C1C"/>
      </a:accent2>
      <a:accent3>
        <a:srgbClr val="5F6670"/>
      </a:accent3>
      <a:accent4>
        <a:srgbClr val="D5DBE3"/>
      </a:accent4>
      <a:accent5>
        <a:srgbClr val="3C5C8A"/>
      </a:accent5>
      <a:accent6>
        <a:srgbClr val="8A94A3"/>
      </a:accent6>
      <a:hlink>
        <a:srgbClr val="1F3A5F"/>
      </a:hlink>
      <a:folHlink>
        <a:srgbClr val="5F6670"/>
      </a:folHlink>
    </a:clrScheme>
    <a:fontScheme name="Navy-Professional">
      <a:majorFont>
        <a:latin typeface="NanumMyeongj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Myeongj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Econometrics Exam Subnotes, Chapters 2–6</dc:title>
  <dc:subject>PptxGenJS Presentation</dc:subject>
  <dc:creator>PptxGenJS</dc:creator>
  <cp:lastModifiedBy>PptxGenJS</cp:lastModifiedBy>
  <cp:revision>1</cp:revision>
  <dcterms:created xsi:type="dcterms:W3CDTF">2026-10-21T15:08:33Z</dcterms:created>
  <dcterms:modified xsi:type="dcterms:W3CDTF">2026-10-21T15:08:33Z</dcterms:modified>
</cp:coreProperties>
</file>