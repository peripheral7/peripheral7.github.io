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EXAM SUBNOTES · ASSUMPTIONS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 Assumptions at a Glance: SLR.1–5, MLR.1–6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What each assumption buys, in finite and large samples — with the lecture example attached to each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1–4 → unbiased and consistent;  1–5 → BLUE and large-sample t/F;  add MLR.6 → exact t/F in any sample.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28–36; Chapter 3, slides 18–22, 36–38; Chapter 4, slides 5–12; Chapter 5, slides 4–10; Econometrics 3, slides 2–5 · Lecture 10.01, 10.13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1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48840"/>
                <a:gridCol w="2514600"/>
                <a:gridCol w="6016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#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Simple (SLR)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Multiple (MLR)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Role / exam point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1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parameters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parameters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coefficients; regressors may be logged or squared.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2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Random sampling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Random sampling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Sample speaks for the population. 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highlight>
                            <a:srgbClr val="FFE45C"/>
                          </a:highlight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OLS requires random sampling; it may also require random assignment.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3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Sample variation in 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 perfect collinearity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Exact collinearity → no identification. 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highlight>
                            <a:srgbClr val="FFE45C"/>
                          </a:highlight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Dummy trap: session has 6 values → 5 dummies.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E(u|x) =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E(u|x₁,…,xₖ) =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Core of unbiasedness.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highlight>
                            <a:srgbClr val="FFE45C"/>
                          </a:highlight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Ability left in u and related to educ → biased, even with random sampling.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Consistency needs only MLR.4′.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5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Var(u|x) = σ²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Var(u|X) = σ²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Variance formula, 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highlight>
                            <a:srgbClr val="FFE45C"/>
                          </a:highlight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BLUE (Gauss–Markov)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, large-sample t/F.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6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—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u|X ~ Normal(0, σ²)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Exact t/F in any n; 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not needed in large samples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(Ch. 5).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074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How to read the highlights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85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highlighted text</a:t>
            </a:r>
            <a:r>
              <a:rPr lang="en-US" sz="12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textbook point the professor stressed in class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5330952"/>
            <a:ext cx="5330952" cy="384048"/>
          </a:xfrm>
          <a:prstGeom prst="roundRect">
            <a:avLst>
              <a:gd name="adj" fmla="val 14286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9088" y="53309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2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card = lecture-only note (Econ 1–3, R labs)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3 · PRECISION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 Variance, Multicollinearity, Gauss–Markov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Three drivers of precision; collinearity costs variance, never bias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Collinearity inflates variance; omitted variables cause bias.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Under MLR.1–5, OLS is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BLUE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31–36; Chapter 3, slides 27–38; Chapter 6, slide 23 · Lecture notes (Sept.), 10.15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3.2 — Slope variance (MLR.1–5)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123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Var(β̂ⱼ|X) = σ² / [SSTⱼ(1 − Rⱼ²)]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σ²↑ (more noise) → variance↑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SSTⱼ↑ (more spread in xⱼ) → variance↓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SSTⱼ grows with 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Rⱼ²↑ (xⱼ explained by the other x’s) → variance↑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Simple regression is the Rⱼ² = 0 case: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Var(β̂₁) = σ² / SSTₓ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1884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3.3 — Standard error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0590"/>
            <a:ext cx="5349240" cy="51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 = SSR/(n − k − 1),   se(β̂ⱼ) = σ̂ / √[SSTⱼ(1 − Rⱼ²)]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Valid only under homoskedasticity (MLR.5).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35463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426903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Sept. lecture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664647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the variance of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sunlight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increases, the accuracy of b̂₁ increases (SSTⱼ↑).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the explanatory variables are highly related, accuracy decreases (Rⱼ²↑) →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multicollinearity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Multicollinearity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064829"/>
            <a:ext cx="5349240" cy="71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VIFⱼ = 1 / (1 − Rⱼ²)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Raises variance,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not bias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not an MLR.3 violation (only perfect collinearity is). Only the variables involved are affected.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901315"/>
            <a:ext cx="5349240" cy="1092822"/>
          </a:xfrm>
          <a:prstGeom prst="roundRect">
            <a:avLst>
              <a:gd name="adj" fmla="val 5020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2992755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10.15 · Ch. 6 slide 23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230499"/>
            <a:ext cx="5129784" cy="697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Adding a variable that is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not (or only slightly) correlated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with the others but explains y lowers SSR → σ̂²↓ →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se(β̂ⱼ)↓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without adding collinearity.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113009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3.4 — Gauss–Markov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4394759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4486199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Sept. lecture · “the most important theorem”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4723943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 MLR.1–5, OLS is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BLUE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smallest variance among linear unbiased estimators.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heteroskedasticity OLS stays unbiased but is no longer best.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3 · BIAS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Omitted-Variable Bias and Random Assignment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What is left in u decides whether β̂ is unbiased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 =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β₂ · δ̃₁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it needs a variable that both affects y and moves with x.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Controls or random assignment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remove 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3, slides 23–26, 41; Econometrics 3, slides 2–5; Toussaert (2018), Table VIII · Lecture 10.01, 10.13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Omitted-variable bias — simple case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75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True: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β₀ + β₁x₁ + β₂x₂ + u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 estimated: y on x₁ only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E(β̃₁) = β₁ + β₂δ̃₁   →   bias = β₂ · δ̃₁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bias if β₂ = 0 or x₁ and x₂ are uncorrelated.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39415"/>
          <a:ext cx="5349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Corr(x₁, x₂)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Corr(x₁, x₂) &lt;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β₂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Positive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Negative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β₂ &lt;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Negative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Positive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3936111"/>
            <a:ext cx="5349240" cy="51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Irrelevant variable included: still unbiased; may cost variance.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Omitting one of several: generally biases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all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coefficients.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1783080"/>
            <a:ext cx="5349240" cy="2013572"/>
          </a:xfrm>
          <a:prstGeom prst="roundRect">
            <a:avLst>
              <a:gd name="adj" fmla="val 2725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9088" y="18745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Econometrics 3 · random assignment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112264"/>
            <a:ext cx="5129784" cy="161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 1: wage = β₀ + β₁educ + β₂abil + u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 2: wage = β₀ + β₁educ + u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 Model 2, ability goes into u. Abler people may get more education, and ability may raise wages →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E(u|educ) ≠ 0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biased even with random sampling.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Fix: add ability as a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control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(Model 1), or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randomly assign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educ so it cannot be related to u.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3915524"/>
            <a:ext cx="5349240" cy="1735760"/>
          </a:xfrm>
          <a:prstGeom prst="roundRect">
            <a:avLst>
              <a:gd name="adj" fmla="val 3161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4006964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10.13 menu lab · interest became significant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4244708"/>
            <a:ext cx="5129784" cy="1340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Why?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Omitted-variable bias.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Toussaert (2018) the coefficient on Interested rises 0.371 → 0.459 once beliefs are added: interest and beliefs correlate (+), beliefs lower WTP (−) → omitting beliefs biased interest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down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Larger estimate → larger |t| →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smaller p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(se also rose with collinearity, but less).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ECONOMETRICS 2 · PARTIAL SLOPES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Partial Slopes and Linear Relationships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β₁ in a multiple regression holds the other x’s fixed; linearity is judged in the variables the model uses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Partial slope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effect holding the other x’s fixed. With an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interaction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one variable’s slope depends on the other.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Econometrics 2, slides 1–15; Chapter 3, slide 14; Chapter 6, slide 13; social.csv rerun of regression.R · Lecture (Sept.), 10.01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Slope vs. partial slope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9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on x₁ alone: β₁ is the slope. With other regressors,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β₁ is the partial slope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β̃₁ = β̂₁ + β̂₂δ̃₁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(δ̃₁: slope of x₂ on x₁); equal only if β̂₂ = 0 or δ̃₁ =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2927"/>
            <a:ext cx="5349240" cy="2491854"/>
          </a:xfrm>
          <a:prstGeom prst="roundRect">
            <a:avLst>
              <a:gd name="adj" fmla="val 2202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194367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10.01 · reject in simple, fail to reject in multiple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32112"/>
            <a:ext cx="5129784" cy="697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Corr(skill, ravens) = 0.25 (VIF ≈ 1.06): se barely moves. The drop is mainly in the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estimate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each simple slope also carried the other’s effect.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4166489"/>
          <a:ext cx="5129784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1005840"/>
                <a:gridCol w="133502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social.csv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Estimate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skill alone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0.214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0.107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0.049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ravens alone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0.217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0.107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0.046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skill (both)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0.171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0.110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B2C2C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0.122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ravens (both)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0.175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0.110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B2C2C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0.115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30936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Linear relationships (slides 7–12)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2064829"/>
            <a:ext cx="5349240" cy="71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Subsidy: linear with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log(price)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not with price.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log(sunlight)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is linear with log(price); sunlight is not linear with price.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901315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Sunlight × battery interaction (slides 13–15)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183065"/>
            <a:ext cx="5349240" cy="51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log(price) = … + β₃battery + β₄(sunlight × battery) + u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∂log(price)/∂battery = β₃ + β₄ · sunlight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3817938"/>
            <a:ext cx="5349240" cy="1534147"/>
          </a:xfrm>
          <a:prstGeom prst="roundRect">
            <a:avLst>
              <a:gd name="adj" fmla="val 3576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9088" y="3909378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Sept. lecture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419088" y="4147122"/>
            <a:ext cx="5129784" cy="11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Battery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has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linear relationship with log(price)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all others are held constant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at a fixed sunlight the slope is one number.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Battery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does not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have a linear relationship where Δlog(price)/Δbattery is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constant for all levels of sunlight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the slope changes with sunlight.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5470957"/>
            <a:ext cx="5349240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Equations reconstructed from the slide text (the slide equations are images).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t TESTS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Tests, p-Values, and “Fail to Reject”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Choose H₁ before seeing results; a large p-value is not proof of H₀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Reject when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 ≤ α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 Failing to reject means the data are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not decisive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not that βⱼ = 0.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5–28; simple regression demonstration.R · Lecture 10.08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3840480"/>
                <a:gridCol w="25877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Alternative H₁ (H₀: βⱼ = 0)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Type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Rejection rule (level α, critical value c)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Slide example (5%)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Right-tailed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 &gt; c  (upper tail α)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df = 28: t &gt; 1.701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&lt;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Left-tailed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 &lt; −c  (lower tail α)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df = 18: t &lt; −1.734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≠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Two-tailed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|t| &gt; c  (α/2 in each tail)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|t| &gt; 2.06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3044952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statistic (MLR.1–6)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326702"/>
            <a:ext cx="5349240" cy="51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(β̂ⱼ − aⱼ) / se(β̂ⱼ)  ~  t(n − k − 1)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Large df, two-sided 10 / 5 / 1%: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1.645 / 1.96 / 2.576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61575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p-value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243324"/>
            <a:ext cx="5349240" cy="75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Smallest significance level at which H₀ is rejected.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Two-sided: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P(|T| &gt; |t|)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 p ≤ α ⇔ reject.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P(|T| &gt; 1.85) = 0.0718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reject at 10%, not at 5%.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3044952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9088" y="313639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10.08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3374136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Fail to reject ≠ H₀ is true.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“Absence of evidence is not evidence of absence.”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Small n → se↑ → |t|↓ → fail to reject; a large n can reject the same effect.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0" y="4496359"/>
            <a:ext cx="5349240" cy="891210"/>
          </a:xfrm>
          <a:prstGeom prst="roundRect">
            <a:avLst>
              <a:gd name="adj" fmla="val 6156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9088" y="4587799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Simulation · 10,000 samples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4825543"/>
            <a:ext cx="5129784" cy="4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True slope 0.2, n = 10: the share of “Reject” =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power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 With a true slope of 0, the share ≈ α (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Type I error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CONFIDENCE INTERVALS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Confidence Intervals and Significance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Intervals show precision; a significant coefficient still needs a magnitude check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95% CI covers the truth in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95% of repeated samples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its width varies because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se is estimated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28–35; simple regression demonstration.R · Lecture 10.08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Confidence interval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119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 ± c · se(β̂ⱼ)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 c = 97.5th percentile of t(n − k − 1) (≈ 1.96)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bounds are random.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repeated samples, 95% of intervals built this way cover the true βⱼ.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aⱼ outside the 95% CI ⇔ reject H₀: βⱼ = aⱼ (5%, two-sided).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Large df: 90% → 1.645, 95% → 1.96, 99% → 2.576.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0740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47218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10.08 · ggplot of 20 intervals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709924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Why are the interval lengths different? Each sample gives a different σ̂ and SSTₓ, so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se(β̂₁) is random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and so is the length 2c · se.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About 1 in 20 intervals misses the true slope 2.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Statistical vs. economic significance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64829"/>
            <a:ext cx="5349240" cy="75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Significant → judge magnitude and units.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Significant ≠ important: large n makes tiny effects significant.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Important but wrong sign → suspect misspecification.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939415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Testing a linear combination (H₀: β₁ = β₂)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21165"/>
            <a:ext cx="5349240" cy="9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(β̂₁ − β̂₂) / se(β̂₁ − β̂₂)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se needs Cov(β̂₁, β̂₂), which is not in standard output.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Reparameterize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θ₁ = β₁ − β₂: regress on jc and totcoll = jc + univ → the coefficient on jc is θ̂₁, with its 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F TESTS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Tests: Restricted vs. Unrestricted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Does imposing H₀ raise SSR by more than chance would?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compares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SSR with and without the restrictions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joint and individual tests can disagree in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both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directions.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36–43; regression.R (social.csv); menu lab · Lecture 10.01, 10.13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Exclusion restrictions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51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H₀: βₖ₋q₊₁ = … = βₖ = 0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(q restrictions)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[(SSRᵣ − SSRᵤᵣ)/q] / [SSRᵤᵣ/(n − k − 1)]  ~  F(q, n − k − 1)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99703"/>
            <a:ext cx="5349240" cy="1572247"/>
          </a:xfrm>
          <a:prstGeom prst="roundRect">
            <a:avLst>
              <a:gd name="adj" fmla="val 3490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791143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Slides 38–39 · 10.01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028887"/>
            <a:ext cx="5129784" cy="117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Moving from unrestricted to restricted can only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raise SSR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F ≥ 0.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H₀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false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dropping real effects raises SSR a lot →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is large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H₀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true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F lands in the upper 5% tail only 5% of the time → reject if F &gt; c (p &lt; α).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90822"/>
            <a:ext cx="5349240" cy="4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Overall: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(R²/k) / [(1 − R²)/(n − k − 1)]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 With q = 1,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= t²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 R² form only with the same 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349240" cy="891210"/>
          </a:xfrm>
          <a:prstGeom prst="roundRect">
            <a:avLst>
              <a:gd name="adj" fmla="val 6156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18745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10.01 · individually insignificant, jointly significant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112264"/>
            <a:ext cx="5129784" cy="4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social.csv: skill p = 0.12, ravens p = 0.12, yet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F(2, 82) = 3.3, p = 0.042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at least one coefficient ≠ 0.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793162"/>
            <a:ext cx="5349240" cy="1773860"/>
          </a:xfrm>
          <a:prstGeom prst="roundRect">
            <a:avLst>
              <a:gd name="adj" fmla="val 3093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288460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10.13 · individually significant, jointly insignificant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122346"/>
            <a:ext cx="5129784" cy="1378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 alone: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reject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 tim alone: fail to reject. int and tim jointly: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fail to reject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“Is the int coefficient 0?” → No.  “Are int and tim both 0?” → Maybe.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Pooling a real effect with a null one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dilutes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F test — a limit of the testing method.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685894"/>
            <a:ext cx="5349240" cy="27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Use F, not repeated t tests, for joint hypotheses.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5 · OLS ASYMPTOTICS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Unbiasedness, Consistency, Asymptotic Normality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What OLS guarantees as n grows — without normal errors, but still with MLR.1–5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MLR.4′ → consistency; MLR.1–5 → large-sample t/F without normality.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Omitted-variable inconsistency never fades.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5, slides 4–12 · Lecture 10.15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49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1783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Property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Meaning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Needs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Unbiased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E(β̂ⱼ) = βⱼ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at every n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MLR.1–4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Consistent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plim β̂ⱼ = βⱼ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as n → ∞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MLR.1–3 + MLR.4′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2779776"/>
            <a:ext cx="5349240" cy="27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MLR.4′: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E(u) = 0, Cov(xⱼ, u) = 0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weaker than MLR.4.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174937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3266377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10.15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504121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Consistency: as n increases, the distribution of β̂ⱼ collapses onto βⱼ —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graph gets sharper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Biased but consistent: bias vanishes as n grows. Unbiased but inconsistent: e.g., using only the first observation.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26343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Asymptotic omitted-variable bias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08093"/>
            <a:ext cx="5349240" cy="27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plim β̃₁ = β₁ + β₂δ₁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</a:t>
            </a: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does not shrink as n grows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5.2 — Asymptotic normality (MLR.1–5)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064829"/>
            <a:ext cx="5349240" cy="957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(β̂ⱼ − βⱼ) / se(β̂ⱼ)  →ᵃ  Normal(0, 1)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highlight>
                  <a:srgbClr val="FFE45C"/>
                </a:highlight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t statistic and the t distribution → standard normal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t tests, CIs and F tests stay valid without MLR.6.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MLR.1–5 are still needed — especially homoskedasticity.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141028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Why large samples are better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422777"/>
            <a:ext cx="5349240" cy="276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 ≈ cⱼ / √n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quadrupling n roughly halves se.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3817938"/>
            <a:ext cx="5349240" cy="929310"/>
          </a:xfrm>
          <a:prstGeom prst="roundRect">
            <a:avLst>
              <a:gd name="adj" fmla="val 5904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9088" y="3909378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10.15 · limits in practice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4147122"/>
            <a:ext cx="5129784" cy="53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infinite sample exists — but the trend is visible as n grows.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Samples are expensive.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6 · FUNCTIONAL FORM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Logs, Quadratics, and Interactions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Rescaling changes coefficients but not significance; logs change interpretation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Rescaling leaves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and R² unchanged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with quadratics or interactions the partial effect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depends on x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22–26; Chapter 6, slides 2–15 · Lecture 10.15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49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777240"/>
                <a:gridCol w="24688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Model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Interpretation of β₁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Level–level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Δy = β₁Δx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Log–level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%Δy ≈ (100β₁)Δx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Level–log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log(x)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Δy ≈ (β₁/100)%Δx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Log–log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log(x)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%Δy ≈ β₁%Δx (elasticity)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319272"/>
            <a:ext cx="5349240" cy="1332535"/>
          </a:xfrm>
          <a:prstGeom prst="roundRect">
            <a:avLst>
              <a:gd name="adj" fmla="val 4117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341071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10.15 · when to use / not use log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648456"/>
            <a:ext cx="5129784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Benefits: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% or elasticity reading; slopes invariant to rescaling; tames outliers; helps normality and homoskedasticity.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Harm / limits: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do not log years, percentage points, or zero/negative values; hard to undo for prediction.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Units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064829"/>
            <a:ext cx="5349240" cy="4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× c: coefficients and se × c.  xⱼ × c: β̂ⱼ and se ÷ c.  </a:t>
            </a: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and R² unchanged.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661602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Quadratic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2943352"/>
            <a:ext cx="5349240" cy="71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Δŷ ≈ (β̂₁ + 2β̂₂x)Δx,   x* = |β̂₁ / (2β̂₂)|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Wage peaks near 24.4 years of experience — check how many observations lie beyond x*.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779838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Interaction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4061587"/>
            <a:ext cx="5349240" cy="9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∂y/∂x₂ = β₂ + β₃x₁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β₂ is the effect at x₁ = 0, often meaningless → center: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β₃(x₁ − μ₁)(x₂ − μ₂)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APE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: compute each unit’s partial effect, then average over the sample.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6 · REGRESSORS AND R LAB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Choosing Regressors, Prediction, and R Essentials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R² is not the goal; predicting the mean differs from predicting one outcome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2700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0"/>
            <a:ext cx="11091672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Use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R̄² only with the same y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; control for what the question requires; a prediction interval adds </a:t>
            </a:r>
            <a:r>
              <a:rPr lang="en-US" sz="13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σ̂²</a:t>
            </a:r>
            <a:r>
              <a:rPr lang="en-US" sz="13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5566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6, slides 16–25; regression.R, Lab4.R, simple regression demonstration.R · Lecture 10.01, 10.13, 10.15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Adjusted R²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64829"/>
            <a:ext cx="5349240" cy="71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R̄² = 1 − (1 − R²)(n − 1)/(n − k − 1)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rises only if the new regressor has |t| &gt; 1.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Never compare R² across different y’s.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01315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Too many controls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83065"/>
            <a:ext cx="5349240" cy="4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 not control for the channel of the effect (beer consumption when regressing fatalities on beer taxes).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79838"/>
            <a:ext cx="5349240" cy="2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61587"/>
            <a:ext cx="5349240" cy="71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Prediction interval is wider than the CI for the mean: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se(ê⁰) = √[se(ŷ⁰)² + σ̂²]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log(y) model: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α̂₀ · exp(log y^)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,  </a:t>
            </a:r>
            <a:r>
              <a:rPr lang="en-US" sz="125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α̂₀ = n⁻¹ Σ exp(ûᵢ)</a:t>
            </a:r>
            <a:r>
              <a:rPr lang="en-US" sz="125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349240" cy="3778301"/>
          </a:xfrm>
          <a:prstGeom prst="roundRect">
            <a:avLst>
              <a:gd name="adj" fmla="val 1452"/>
            </a:avLst>
          </a:prstGeom>
          <a:solidFill>
            <a:srgbClr val="FFF5DA"/>
          </a:solidFill>
          <a:ln w="9525">
            <a:solidFill>
              <a:srgbClr val="EBCB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18745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★ 교수님 강조</a:t>
            </a:r>
            <a:r>
              <a:rPr lang="en-US" sz="1050" dirty="0">
                <a:solidFill>
                  <a:srgbClr val="8A4B0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·  R lab essentials · 10.01 – 10.15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9088" y="2148840"/>
          <a:ext cx="512978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12264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Code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What it does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read.csv("social.csv", header=T)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Load data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data$new &lt;- …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Add a column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data[ , 4]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4th column (</a:t>
                      </a: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data(,4)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is wrong)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colnames(data)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Column names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lm(y ~ x1 + x2); summary(); confint()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Fit, t/F/p, CI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as.factor(session)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Dummies, one base level dropped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x1*x2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x1 + x2 + x1:x2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   &amp;   &amp;&amp;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or · and (vectors) · and (single value)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Econometrics Exam Subnotes Ch.2–6 (10 pages)</dc:title>
  <dc:subject>PptxGenJS Presentation</dc:subject>
  <dc:creator>PptxGenJS</dc:creator>
  <cp:lastModifiedBy>PptxGenJS</cp:lastModifiedBy>
  <cp:revision>1</cp:revision>
  <dcterms:created xsi:type="dcterms:W3CDTF">2026-10-21T18:28:23Z</dcterms:created>
  <dcterms:modified xsi:type="dcterms:W3CDTF">2026-10-21T18:28:23Z</dcterms:modified>
</cp:coreProperties>
</file>